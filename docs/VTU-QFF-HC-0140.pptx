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1.xml"/>
  <Override ContentType="application/vnd.openxmlformats-officedocument.theme+xml" PartName="/ppt/theme/theme1.xml"/>
  <Override ContentType="application/vnd.openxmlformats-officedocument.theme+xml" PartName="/ppt/theme/theme2.xml"/>
  <Override PartName="/ppt/slides/slide11.xml" ContentType="application/vnd.openxmlformats-officedocument.presentationml.slide+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6" r:id="rId15"/>
    <p:sldId id="263" r:id="rId12"/>
    <p:sldId id="264" r:id="rId13"/>
    <p:sldId id="265" r:id="rId14"/>
  </p:sldIdLst>
  <p:sldSz cy="5143500" cx="9144000"/>
  <p:notesSz cx="5143500" cy="9144000"/>
  <p:defaultTextStyle>
    <a:defPPr lvl="0"/>
    <a:lvl1pPr defTabSz="914400" eaLnBrk="1" hangingPunct="1" latinLnBrk="0" lvl="0" marL="0" rtl="0" algn="l">
      <a:defRPr kern="1200" sz="1800">
        <a:solidFill>
          <a:schemeClr val="tx1"/>
        </a:solidFill>
        <a:latin typeface="+mn-lt"/>
        <a:ea typeface="+mn-ea"/>
        <a:cs typeface="+mn-cs"/>
      </a:defRPr>
    </a:lvl1pPr>
    <a:lvl2pPr defTabSz="914400" eaLnBrk="1" hangingPunct="1" latinLnBrk="0" lvl="1" marL="457200" rtl="0" algn="l">
      <a:defRPr kern="1200" sz="1800">
        <a:solidFill>
          <a:schemeClr val="tx1"/>
        </a:solidFill>
        <a:latin typeface="+mn-lt"/>
        <a:ea typeface="+mn-ea"/>
        <a:cs typeface="+mn-cs"/>
      </a:defRPr>
    </a:lvl2pPr>
    <a:lvl3pPr defTabSz="914400" eaLnBrk="1" hangingPunct="1" latinLnBrk="0" lvl="2" marL="914400" rtl="0" algn="l">
      <a:defRPr kern="1200" sz="1800">
        <a:solidFill>
          <a:schemeClr val="tx1"/>
        </a:solidFill>
        <a:latin typeface="+mn-lt"/>
        <a:ea typeface="+mn-ea"/>
        <a:cs typeface="+mn-cs"/>
      </a:defRPr>
    </a:lvl3pPr>
    <a:lvl4pPr defTabSz="914400" eaLnBrk="1" hangingPunct="1" latinLnBrk="0" lvl="3" marL="1371600" rtl="0" algn="l">
      <a:defRPr kern="1200" sz="1800">
        <a:solidFill>
          <a:schemeClr val="tx1"/>
        </a:solidFill>
        <a:latin typeface="+mn-lt"/>
        <a:ea typeface="+mn-ea"/>
        <a:cs typeface="+mn-cs"/>
      </a:defRPr>
    </a:lvl4pPr>
    <a:lvl5pPr defTabSz="914400" eaLnBrk="1" hangingPunct="1" latinLnBrk="0" lvl="4" marL="1828800" rtl="0" algn="l">
      <a:defRPr kern="1200" sz="1800">
        <a:solidFill>
          <a:schemeClr val="tx1"/>
        </a:solidFill>
        <a:latin typeface="+mn-lt"/>
        <a:ea typeface="+mn-ea"/>
        <a:cs typeface="+mn-cs"/>
      </a:defRPr>
    </a:lvl5pPr>
    <a:lvl6pPr defTabSz="914400" eaLnBrk="1" hangingPunct="1" latinLnBrk="0" lvl="5" marL="2286000" rtl="0" algn="l">
      <a:defRPr kern="1200" sz="1800">
        <a:solidFill>
          <a:schemeClr val="tx1"/>
        </a:solidFill>
        <a:latin typeface="+mn-lt"/>
        <a:ea typeface="+mn-ea"/>
        <a:cs typeface="+mn-cs"/>
      </a:defRPr>
    </a:lvl6pPr>
    <a:lvl7pPr defTabSz="914400" eaLnBrk="1" hangingPunct="1" latinLnBrk="0" lvl="6" marL="2743200" rtl="0" algn="l">
      <a:defRPr kern="1200" sz="1800">
        <a:solidFill>
          <a:schemeClr val="tx1"/>
        </a:solidFill>
        <a:latin typeface="+mn-lt"/>
        <a:ea typeface="+mn-ea"/>
        <a:cs typeface="+mn-cs"/>
      </a:defRPr>
    </a:lvl7pPr>
    <a:lvl8pPr defTabSz="914400" eaLnBrk="1" hangingPunct="1" latinLnBrk="0" lvl="7" marL="3200400" rtl="0" algn="l">
      <a:defRPr kern="1200" sz="1800">
        <a:solidFill>
          <a:schemeClr val="tx1"/>
        </a:solidFill>
        <a:latin typeface="+mn-lt"/>
        <a:ea typeface="+mn-ea"/>
        <a:cs typeface="+mn-cs"/>
      </a:defRPr>
    </a:lvl8pPr>
    <a:lvl9pPr defTabSz="914400" eaLnBrk="1" hangingPunct="1" latinLnBrk="0" lvl="8" marL="3657600" rtl="0" algn="l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1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
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1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  <Relationship Id="rId15" Type="http://schemas.openxmlformats.org/officeDocument/2006/relationships/slide" Target="slides/slide11.xml"/>
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FA1F8C-B10B-C84D-94FC-B3DA01C1C208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902761-92A6-8544-9B98-D45CEE3CC8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46363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image" Target="../media/image1.png" /><Relationship Id="rId1" Type="http://schemas.openxmlformats.org/officeDocument/2006/relationships/slideMaster" Target="../slideMasters/slideMaster1.xml" /><Relationship Id="rId4" Type="http://schemas.openxmlformats.org/officeDocument/2006/relationships/image" Target="../media/image3.png" 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7" Type="http://schemas.openxmlformats.org/officeDocument/2006/relationships/image" Target="../media/image6.png" /><Relationship Id="rId2" Type="http://schemas.openxmlformats.org/officeDocument/2006/relationships/image" Target="../media/image1.png" /><Relationship Id="rId1" Type="http://schemas.openxmlformats.org/officeDocument/2006/relationships/slideMaster" Target="../slideMasters/slideMaster1.xml" /><Relationship Id="rId6" Type="http://schemas.openxmlformats.org/officeDocument/2006/relationships/image" Target="../media/image5.png" /><Relationship Id="rId5" Type="http://schemas.openxmlformats.org/officeDocument/2006/relationships/image" Target="../media/image4.png" /><Relationship Id="rId4" Type="http://schemas.openxmlformats.org/officeDocument/2006/relationships/image" Target="../media/image3.png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DDE2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CBD1F5"/>
          </a:solidFill>
          <a:ln w="12700">
            <a:solidFill>
              <a:srgbClr val="CBD1F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3054096" cy="45720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054096" y="658368"/>
            <a:ext cx="3054096" cy="45720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099048" y="658368"/>
            <a:ext cx="3054096" cy="45720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prstDash val="solid"/>
          </a:ln>
        </p:spPr>
      </p:sp>
      <p:pic>
        <p:nvPicPr>
          <p:cNvPr id="6" name="Image 0" descr="vtu_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1440"/>
            <a:ext cx="475488" cy="47548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32688" y="91440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950" b="1" dirty="0">
                <a:solidFill>
                  <a:srgbClr val="2E1B5B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ವಿಶ್ವೇಶ್ವರಯ್ಯ ತಾಂತ್ರಿಕ ವಿಶ್ವವಿದ್ಯಾಲಯ, ಬೆಳಗಾವಿ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932688" y="338328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2E1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Visvesvaraya Technological University, Belagavi</a:t>
            </a:r>
            <a:endParaRPr lang="en-US" sz="950" dirty="0"/>
          </a:p>
        </p:txBody>
      </p:sp>
      <p:pic>
        <p:nvPicPr>
          <p:cNvPr id="9" name="Image 1" descr="quc_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1104" y="91440"/>
            <a:ext cx="612648" cy="47548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394960" y="109728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200" dirty="0">
                <a:solidFill>
                  <a:srgbClr val="2E1B5B"/>
                </a:solidFill>
              </a:rPr>
              <a:t>QISKIT FALL FEST 2026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5394960" y="365760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kern="0" spc="100" dirty="0">
                <a:solidFill>
                  <a:srgbClr val="5B3BA8"/>
                </a:solidFill>
              </a:rPr>
              <a:t>IBM Quantum</a:t>
            </a:r>
            <a:endParaRPr lang="en-US" sz="950" dirty="0"/>
          </a:p>
        </p:txBody>
      </p:sp>
      <p:pic>
        <p:nvPicPr>
          <p:cNvPr id="12" name="Image 2" descr="badge_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02752" y="91440"/>
            <a:ext cx="475488" cy="475488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CBD1F5"/>
          </a:solidFill>
          <a:ln w="12700">
            <a:solidFill>
              <a:srgbClr val="CBD1F5"/>
            </a:solidFill>
            <a:prstDash val="solid"/>
          </a:ln>
        </p:spPr>
      </p:sp>
      <p:sp>
        <p:nvSpPr>
          <p:cNvPr id="14" name="Shape 9"/>
          <p:cNvSpPr/>
          <p:nvPr/>
        </p:nvSpPr>
        <p:spPr>
          <a:xfrm>
            <a:off x="0" y="4828032"/>
            <a:ext cx="3054096" cy="36576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3054096" y="4828032"/>
            <a:ext cx="3054096" cy="36576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6099048" y="4828032"/>
            <a:ext cx="3054096" cy="36576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457200" y="486460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2E1B5B"/>
                </a:solidFill>
              </a:rPr>
              <a:t>QISKIT FALL FEST 2026  ·  HOSTED BY VTU, BELAGAVI</a:t>
            </a:r>
            <a:endParaRPr lang="en-US" sz="850" dirty="0"/>
          </a:p>
        </p:txBody>
      </p:sp>
      <p:sp>
        <p:nvSpPr>
          <p:cNvPr id="18" name="Text 13"/>
          <p:cNvSpPr/>
          <p:nvPr/>
        </p:nvSpPr>
        <p:spPr>
          <a:xfrm>
            <a:off x="5943600" y="486460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kern="0" spc="200" dirty="0">
                <a:solidFill>
                  <a:srgbClr val="5B3BA8"/>
                </a:solidFill>
              </a:rPr>
              <a:t>27 – 31 OCT 2026</a:t>
            </a:r>
            <a:endParaRPr lang="en-US" sz="8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DDE2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CBD1F5"/>
          </a:solidFill>
          <a:ln w="12700">
            <a:solidFill>
              <a:srgbClr val="CBD1F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3054096" cy="45720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054096" y="658368"/>
            <a:ext cx="3054096" cy="45720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099048" y="658368"/>
            <a:ext cx="3054096" cy="45720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prstDash val="solid"/>
          </a:ln>
        </p:spPr>
      </p:sp>
      <p:pic>
        <p:nvPicPr>
          <p:cNvPr id="6" name="Image 0" descr="vtu_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1440"/>
            <a:ext cx="475488" cy="47548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32688" y="91440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950" b="1" dirty="0">
                <a:solidFill>
                  <a:srgbClr val="2E1B5B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ವಿಶ್ವೇಶ್ವರಯ್ಯ ತಾಂತ್ರಿಕ ವಿಶ್ವವಿದ್ಯಾಲಯ, ಬೆಳಗಾವಿ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932688" y="338328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2E1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Visvesvaraya Technological University, Belagavi</a:t>
            </a:r>
            <a:endParaRPr lang="en-US" sz="950" dirty="0"/>
          </a:p>
        </p:txBody>
      </p:sp>
      <p:pic>
        <p:nvPicPr>
          <p:cNvPr id="9" name="Image 1" descr="quc_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1104" y="91440"/>
            <a:ext cx="612648" cy="47548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394960" y="109728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200" dirty="0">
                <a:solidFill>
                  <a:srgbClr val="2E1B5B"/>
                </a:solidFill>
              </a:rPr>
              <a:t>QISKIT FALL FEST 2026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5394960" y="365760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kern="0" spc="100" dirty="0">
                <a:solidFill>
                  <a:srgbClr val="5B3BA8"/>
                </a:solidFill>
              </a:rPr>
              <a:t>IBM Quantum</a:t>
            </a:r>
            <a:endParaRPr lang="en-US" sz="950" dirty="0"/>
          </a:p>
        </p:txBody>
      </p:sp>
      <p:pic>
        <p:nvPicPr>
          <p:cNvPr id="12" name="Image 2" descr="badge_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02752" y="91440"/>
            <a:ext cx="475488" cy="475488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CBD1F5"/>
          </a:solidFill>
          <a:ln w="12700">
            <a:solidFill>
              <a:srgbClr val="CBD1F5"/>
            </a:solidFill>
            <a:prstDash val="solid"/>
          </a:ln>
        </p:spPr>
      </p:sp>
      <p:sp>
        <p:nvSpPr>
          <p:cNvPr id="14" name="Shape 9"/>
          <p:cNvSpPr/>
          <p:nvPr/>
        </p:nvSpPr>
        <p:spPr>
          <a:xfrm>
            <a:off x="0" y="4828032"/>
            <a:ext cx="3054096" cy="36576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3054096" y="4828032"/>
            <a:ext cx="3054096" cy="36576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6099048" y="4828032"/>
            <a:ext cx="3054096" cy="36576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457200" y="486460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2E1B5B"/>
                </a:solidFill>
              </a:rPr>
              <a:t>QISKIT FALL FEST 2026  ·  HOSTED BY VTU, BELAGAVI</a:t>
            </a:r>
            <a:endParaRPr lang="en-US" sz="850" dirty="0"/>
          </a:p>
        </p:txBody>
      </p:sp>
      <p:sp>
        <p:nvSpPr>
          <p:cNvPr id="18" name="Text 13"/>
          <p:cNvSpPr/>
          <p:nvPr/>
        </p:nvSpPr>
        <p:spPr>
          <a:xfrm>
            <a:off x="5943600" y="486460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kern="0" spc="200" dirty="0">
                <a:solidFill>
                  <a:srgbClr val="5B3BA8"/>
                </a:solidFill>
              </a:rPr>
              <a:t>27 – 31 OCT 2026</a:t>
            </a:r>
            <a:endParaRPr lang="en-US" sz="850" dirty="0"/>
          </a:p>
        </p:txBody>
      </p:sp>
      <p:pic>
        <p:nvPicPr>
          <p:cNvPr id="19" name="Image 3" descr="spher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09560" y="822960"/>
            <a:ext cx="777240" cy="777240"/>
          </a:xfrm>
          <a:prstGeom prst="rect">
            <a:avLst/>
          </a:prstGeom>
        </p:spPr>
      </p:pic>
      <p:pic>
        <p:nvPicPr>
          <p:cNvPr id="20" name="Image 4" descr="bird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86600" y="868680"/>
            <a:ext cx="548640" cy="329184"/>
          </a:xfrm>
          <a:prstGeom prst="rect">
            <a:avLst/>
          </a:prstGeom>
        </p:spPr>
      </p:pic>
      <p:pic>
        <p:nvPicPr>
          <p:cNvPr id="21" name="Image 5" descr="bird2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03720" y="1261872"/>
            <a:ext cx="384048" cy="228600"/>
          </a:xfrm>
          <a:prstGeom prst="rect">
            <a:avLst/>
          </a:prstGeom>
        </p:spPr>
      </p:pic>
      <p:sp>
        <p:nvSpPr>
          <p:cNvPr id="22" name="Text 14"/>
          <p:cNvSpPr>
            <a:spLocks noGrp="1"/>
          </p:cNvSpPr>
          <p:nvPr>
            <p:ph type="title" idx="120" hasCustomPrompt="1"/>
          </p:nvPr>
        </p:nvSpPr>
        <p:spPr>
          <a:xfrm>
            <a:off x="457200" y="841248"/>
            <a:ext cx="6309360" cy="5943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600" b="1" dirty="0">
                <a:solidFill>
                  <a:srgbClr val="2E1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marL="0" indent="0" algn="l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6460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anchor="ctr"/>
          <a:lstStyle>
            <a:lvl1pPr>
              <a:defRPr sz="900">
                <a:solidFill>
                  <a:srgbClr val="2E1B5B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4" Type="http://schemas.openxmlformats.org/officeDocument/2006/relationships/theme" Target="../theme/theme1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6460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anchor="ctr"/>
          <a:lstStyle>
            <a:lvl1pPr>
              <a:defRPr sz="900">
                <a:solidFill>
                  <a:srgbClr val="2E1B5B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 /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2.xml" /><Relationship Id="rId6" Type="http://schemas.openxmlformats.org/officeDocument/2006/relationships/image" Target="../media/image7.png" /><Relationship Id="rId5" Type="http://schemas.openxmlformats.org/officeDocument/2006/relationships/image" Target="../media/image6.png" /><Relationship Id="rId4" Type="http://schemas.openxmlformats.org/officeDocument/2006/relationships/image" Target="../media/image5.png" 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3.xml" 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 /><Relationship Id="rId1" Type="http://schemas.openxmlformats.org/officeDocument/2006/relationships/slideLayout" Target="../slideLayouts/slideLayout3.xml" 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 /><Relationship Id="rId1" Type="http://schemas.openxmlformats.org/officeDocument/2006/relationships/slideLayout" Target="../slideLayouts/slideLayout3.xml" /></Relationships>
</file>

<file path=ppt/slides/_rels/slide5.xml.rels><?xml version="1.0" encoding="UTF-8" standalone="yes"?>
<Relationships xmlns="http://schemas.openxmlformats.org/package/2006/relationships"><Relationship Id="rId2" Type="http://schemas.openxmlformats.org/officeDocument/2006/relationships/notesSlide" Target="../notesSlides/notesSlide5.xml" /><Relationship Id="rId1" Type="http://schemas.openxmlformats.org/officeDocument/2006/relationships/slideLayout" Target="../slideLayouts/slideLayout3.xml" /><Relationship Id="rId3" Type="http://schemas.openxmlformats.org/officeDocument/2006/relationships/image" Target="../media/qudock_circuit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 /><Relationship Id="rId1" Type="http://schemas.openxmlformats.org/officeDocument/2006/relationships/slideLayout" Target="../slideLayouts/slideLayout3.xml" /></Relationships>
</file>

<file path=ppt/slides/_rels/slide7.xml.rels><?xml version="1.0" encoding="UTF-8" standalone="yes"?>
<Relationships xmlns="http://schemas.openxmlformats.org/package/2006/relationships"><Relationship Id="rId2" Type="http://schemas.openxmlformats.org/officeDocument/2006/relationships/notesSlide" Target="../notesSlides/notesSlide7.xml" /><Relationship Id="rId1" Type="http://schemas.openxmlformats.org/officeDocument/2006/relationships/slideLayout" Target="../slideLayouts/slideLayout3.xml" /><Relationship Id="rId3" Type="http://schemas.openxmlformats.org/officeDocument/2006/relationships/image" Target="../media/qudock_learning_curve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 /><Relationship Id="rId1" Type="http://schemas.openxmlformats.org/officeDocument/2006/relationships/slideLayout" Target="../slideLayouts/slideLayout3.xml" 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 /><Relationship Id="rId1" Type="http://schemas.openxmlformats.org/officeDocument/2006/relationships/slideLayout" Target="../slideLayouts/slideLayout3.xml" /></Relationships>
</file>

<file path=ppt/slides/_rels/slide10.xml.rels><?xml version="1.0" encoding="UTF-8" standalone="yes"?>
<Relationships xmlns="http://schemas.openxmlformats.org/package/2006/relationships"><Relationship Id="rId3" Type="http://schemas.openxmlformats.org/officeDocument/2006/relationships/image" Target="../media/image4.png" /><Relationship Id="rId2" Type="http://schemas.openxmlformats.org/officeDocument/2006/relationships/notesSlide" Target="../notesSlides/notesSlide10.xml" /><Relationship Id="rId1" Type="http://schemas.openxmlformats.org/officeDocument/2006/relationships/slideLayout" Target="../slideLayouts/slideLayout2.xml" /><Relationship Id="rId6" Type="http://schemas.openxmlformats.org/officeDocument/2006/relationships/image" Target="../media/image7.png" /><Relationship Id="rId5" Type="http://schemas.openxmlformats.org/officeDocument/2006/relationships/image" Target="../media/image6.png" /><Relationship Id="rId4" Type="http://schemas.openxmlformats.org/officeDocument/2006/relationships/image" Target="../media/image5.png" /><Relationship Id="rIdVid" Type="http://schemas.openxmlformats.org/officeDocument/2006/relationships/hyperlink" Target="https://drive.google.com/file/d/17vJ5pzTXjhN4cXxzwQyV3GzaghxDYzhk/view?usp=sharing" TargetMode="External"/><Relationship Id="rIdApp" Type="http://schemas.openxmlformats.org/officeDocument/2006/relationships/hyperlink" Target="https://qudock-blackout.streamlit.app/" TargetMode="Externa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 /><Relationship Id="rId2" Type="http://schemas.openxmlformats.org/officeDocument/2006/relationships/image" Target="../media/qudock_hw_heatmaps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9144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E863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PARTICIPANT PRESENTATION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34440"/>
            <a:ext cx="3383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800" b="1" dirty="0">
                <a:solidFill>
                  <a:srgbClr val="2E1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Qiskit</a:t>
            </a:r>
            <a:endParaRPr lang="en-US" sz="3800" dirty="0"/>
          </a:p>
          <a:p>
            <a:pPr marL="0" indent="0">
              <a:buNone/>
            </a:pPr>
            <a:r>
              <a:rPr lang="en-US" sz="3800" b="1" dirty="0">
                <a:solidFill>
                  <a:srgbClr val="E8639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Fall Fest</a:t>
            </a:r>
            <a:endParaRPr lang="en-US" sz="3800" dirty="0"/>
          </a:p>
          <a:p>
            <a:pPr marL="0" indent="0">
              <a:buNone/>
            </a:pPr>
            <a:r>
              <a:rPr lang="en-US" sz="3800" b="1" dirty="0">
                <a:solidFill>
                  <a:srgbClr val="2E1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2026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0175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4A4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Hackathon · Team Details</a:t>
            </a:r>
            <a:endParaRPr lang="en-US" sz="1300" dirty="0"/>
          </a:p>
        </p:txBody>
      </p:sp>
      <p:pic>
        <p:nvPicPr>
          <p:cNvPr id="5" name="Bloch sphere ring" descr="sphe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291840"/>
            <a:ext cx="1371600" cy="1371600"/>
          </a:xfrm>
          <a:prstGeom prst="rect">
            <a:avLst/>
          </a:prstGeom>
        </p:spPr>
      </p:pic>
      <p:pic>
        <p:nvPicPr>
          <p:cNvPr id="6" name="Image 1" descr="bird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48840" y="3429000"/>
            <a:ext cx="731520" cy="438912"/>
          </a:xfrm>
          <a:prstGeom prst="rect">
            <a:avLst/>
          </a:prstGeom>
        </p:spPr>
      </p:pic>
      <p:pic>
        <p:nvPicPr>
          <p:cNvPr id="7" name="Image 2" descr="bird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80360" y="3977640"/>
            <a:ext cx="502920" cy="301752"/>
          </a:xfrm>
          <a:prstGeom prst="rect">
            <a:avLst/>
          </a:prstGeom>
        </p:spPr>
      </p:pic>
      <p:pic>
        <p:nvPicPr>
          <p:cNvPr id="8" name="Image 3" descr="bird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31720" y="4297680"/>
            <a:ext cx="384048" cy="228600"/>
          </a:xfrm>
          <a:prstGeom prst="rect">
            <a:avLst/>
          </a:prstGeom>
        </p:spPr>
      </p:pic>
      <p:sp>
        <p:nvSpPr>
          <p:cNvPr id="9" name="Text 3"/>
          <p:cNvSpPr txBox="1"/>
          <p:nvPr/>
        </p:nvSpPr>
        <p:spPr>
          <a:xfrm>
            <a:off x="4023360" y="841248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2E1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Participant Details</a:t>
            </a:r>
            <a:endParaRPr lang="en-US" sz="1600" dirty="0"/>
          </a:p>
        </p:txBody>
      </p:sp>
      <p:sp>
        <p:nvSpPr>
          <p:cNvPr id="10" name="Field: PROJECT TITLE"/>
          <p:cNvSpPr/>
          <p:nvPr/>
        </p:nvSpPr>
        <p:spPr>
          <a:xfrm>
            <a:off x="4023360" y="1261872"/>
            <a:ext cx="466344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B8BDEB"/>
            </a:solidFill>
          </a:ln>
        </p:spPr>
        <p:txBody>
          <a:bodyPr wrap="square" lIns="63500" tIns="114300" rIns="114300" bIns="38100" rtlCol="0" anchor="t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5B3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TITLE</a:t>
            </a:r>
            <a:endParaRPr lang="en-US" sz="9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2E1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QuDock: quantum kernels for Alzheimer's drug screening (BACE-1)</a:t>
            </a:r>
            <a:endParaRPr lang="en-US" sz="900" dirty="0"/>
          </a:p>
        </p:txBody>
      </p:sp>
      <p:sp>
        <p:nvSpPr>
          <p:cNvPr id="11" name="Field: TRACK"/>
          <p:cNvSpPr/>
          <p:nvPr/>
        </p:nvSpPr>
        <p:spPr>
          <a:xfrm>
            <a:off x="4023360" y="1865376"/>
            <a:ext cx="228600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B8BDEB"/>
            </a:solidFill>
          </a:ln>
        </p:spPr>
        <p:txBody>
          <a:bodyPr wrap="square" lIns="63500" tIns="114300" rIns="114300" bIns="38100" rtlCol="0" anchor="t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5B3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</a:t>
            </a:r>
            <a:endParaRPr lang="en-US" sz="9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2E1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ML for drug discovery</a:t>
            </a:r>
            <a:endParaRPr lang="en-US" sz="900" dirty="0"/>
          </a:p>
        </p:txBody>
      </p:sp>
      <p:sp>
        <p:nvSpPr>
          <p:cNvPr id="12" name="Field: TEAM NAME"/>
          <p:cNvSpPr/>
          <p:nvPr/>
        </p:nvSpPr>
        <p:spPr>
          <a:xfrm>
            <a:off x="6400800" y="1865376"/>
            <a:ext cx="228600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B8BDEB"/>
            </a:solidFill>
          </a:ln>
        </p:spPr>
        <p:txBody>
          <a:bodyPr wrap="square" lIns="63500" tIns="114300" rIns="114300" bIns="38100" rtlCol="0" anchor="t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5B3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NAME</a:t>
            </a:r>
            <a:endParaRPr lang="en-US" sz="9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2E1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BlackOut (VTU-QFF-HC-0140)</a:t>
            </a:r>
            <a:endParaRPr lang="en-US" sz="900" dirty="0"/>
          </a:p>
        </p:txBody>
      </p:sp>
      <p:sp>
        <p:nvSpPr>
          <p:cNvPr id="13" name="Field: TEAM LEADER"/>
          <p:cNvSpPr/>
          <p:nvPr/>
        </p:nvSpPr>
        <p:spPr>
          <a:xfrm>
            <a:off x="4023360" y="2468880"/>
            <a:ext cx="228600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B8BDEB"/>
            </a:solidFill>
          </a:ln>
        </p:spPr>
        <p:txBody>
          <a:bodyPr wrap="square" lIns="63500" tIns="114300" rIns="114300" bIns="38100" rtlCol="0" anchor="t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5B3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LEADER</a:t>
            </a:r>
            <a:endParaRPr lang="en-US" sz="9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2E1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Shubhodeep Chatterjee</a:t>
            </a:r>
            <a:endParaRPr lang="en-US" sz="900" dirty="0"/>
          </a:p>
        </p:txBody>
      </p:sp>
      <p:sp>
        <p:nvSpPr>
          <p:cNvPr id="14" name="Field: EMAIL / CONTACT"/>
          <p:cNvSpPr/>
          <p:nvPr/>
        </p:nvSpPr>
        <p:spPr>
          <a:xfrm>
            <a:off x="6400800" y="2468880"/>
            <a:ext cx="228600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B8BDEB"/>
            </a:solidFill>
          </a:ln>
        </p:spPr>
        <p:txBody>
          <a:bodyPr wrap="square" lIns="63500" tIns="114300" rIns="114300" bIns="38100" rtlCol="0" anchor="t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5B3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/ CONTACT</a:t>
            </a:r>
            <a:endParaRPr lang="en-US" sz="9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2E1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shubhodeepcx@gmail.com</a:t>
            </a:r>
            <a:endParaRPr lang="en-US" sz="900" dirty="0"/>
          </a:p>
        </p:txBody>
      </p:sp>
      <p:sp>
        <p:nvSpPr>
          <p:cNvPr id="15" name="Field: TEAM MEMBERS"/>
          <p:cNvSpPr/>
          <p:nvPr/>
        </p:nvSpPr>
        <p:spPr>
          <a:xfrm>
            <a:off x="4023360" y="3072384"/>
            <a:ext cx="466344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9525">
            <a:solidFill>
              <a:srgbClr val="B8BDEB"/>
            </a:solidFill>
          </a:ln>
        </p:spPr>
        <p:txBody>
          <a:bodyPr wrap="square" lIns="63500" tIns="114300" rIns="114300" bIns="38100" rtlCol="0" anchor="t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5B3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</a:t>
            </a:r>
            <a:endParaRPr lang="en-US" sz="9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2E1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Shubhodeep Chatterjee, Srijita Banerjee, Rounak Pal</a:t>
            </a:r>
            <a:endParaRPr lang="en-US" sz="900" dirty="0"/>
          </a:p>
        </p:txBody>
      </p:sp>
      <p:sp>
        <p:nvSpPr>
          <p:cNvPr id="16" name="Field: INSTITUTION / ORGANISATION"/>
          <p:cNvSpPr/>
          <p:nvPr/>
        </p:nvSpPr>
        <p:spPr>
          <a:xfrm>
            <a:off x="4023360" y="3922776"/>
            <a:ext cx="228600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B8BDEB"/>
            </a:solidFill>
          </a:ln>
        </p:spPr>
        <p:txBody>
          <a:bodyPr wrap="square" lIns="63500" tIns="114300" rIns="114300" bIns="38100" rtlCol="0" anchor="t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5B3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 / ORGANISATION</a:t>
            </a:r>
            <a:endParaRPr lang="en-US" sz="9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2E1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 India University, Kolkata</a:t>
            </a:r>
            <a:endParaRPr lang="en-US" sz="900" dirty="0"/>
          </a:p>
        </p:txBody>
      </p:sp>
      <p:sp>
        <p:nvSpPr>
          <p:cNvPr id="17" name="Field: COUNTRY"/>
          <p:cNvSpPr/>
          <p:nvPr/>
        </p:nvSpPr>
        <p:spPr>
          <a:xfrm>
            <a:off x="6400800" y="3922776"/>
            <a:ext cx="228600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B8BDEB"/>
            </a:solidFill>
          </a:ln>
        </p:spPr>
        <p:txBody>
          <a:bodyPr wrap="square" lIns="63500" tIns="114300" rIns="114300" bIns="38100" rtlCol="0" anchor="t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5B3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</a:t>
            </a:r>
            <a:endParaRPr lang="en-US" sz="9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2E1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4"/>
          <p:cNvSpPr>
            <a:spLocks noGrp="1"/>
          </p:cNvSpPr>
          <p:nvPr>
            <p:ph type="title" idx="120" hasCustomPrompt="1"/>
          </p:nvPr>
        </p:nvSpPr>
        <p:spPr>
          <a:xfrm>
            <a:off x="457200" y="841248"/>
            <a:ext cx="6309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E1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 Statement</a:t>
            </a:r>
            <a:endParaRPr lang="en-US" sz="2600" dirty="0"/>
          </a:p>
        </p:txBody>
      </p:sp>
      <p:sp>
        <p:nvSpPr>
          <p:cNvPr id="3" name="Title accent"/>
          <p:cNvSpPr/>
          <p:nvPr/>
        </p:nvSpPr>
        <p:spPr>
          <a:xfrm>
            <a:off x="457200" y="1463040"/>
            <a:ext cx="256032" cy="45720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</p:sp>
      <p:sp>
        <p:nvSpPr>
          <p:cNvPr id="4" name="Title accent"/>
          <p:cNvSpPr/>
          <p:nvPr/>
        </p:nvSpPr>
        <p:spPr>
          <a:xfrm>
            <a:off x="731520" y="1463040"/>
            <a:ext cx="256032" cy="45720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</p:sp>
      <p:sp>
        <p:nvSpPr>
          <p:cNvPr id="5" name="Title accent"/>
          <p:cNvSpPr/>
          <p:nvPr/>
        </p:nvSpPr>
        <p:spPr>
          <a:xfrm>
            <a:off x="1005840" y="1463040"/>
            <a:ext cx="256032" cy="45720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prstDash val="solid"/>
          </a:ln>
        </p:spPr>
      </p:sp>
      <p:sp>
        <p:nvSpPr>
          <p:cNvPr id="6" name="Content card"/>
          <p:cNvSpPr/>
          <p:nvPr/>
        </p:nvSpPr>
        <p:spPr>
          <a:xfrm>
            <a:off x="457200" y="1691640"/>
            <a:ext cx="822960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B8BDEB"/>
            </a:solidFill>
            <a:prstDash val="solid"/>
          </a:ln>
        </p:spPr>
      </p:sp>
      <p:sp>
        <p:nvSpPr>
          <p:cNvPr id="7" name="Card accent"/>
          <p:cNvSpPr/>
          <p:nvPr/>
        </p:nvSpPr>
        <p:spPr>
          <a:xfrm>
            <a:off x="685800" y="1691640"/>
            <a:ext cx="822960" cy="54864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</p:sp>
      <p:sp>
        <p:nvSpPr>
          <p:cNvPr id="101" name="Problem text"/>
          <p:cNvSpPr txBox="1"/>
          <p:nvPr/>
        </p:nvSpPr>
        <p:spPr>
          <a:xfrm>
            <a:off x="685800" y="1828800"/>
            <a:ext cx="4663440" cy="2697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5B3BA8"/>
                </a:solidFill>
                <a:latin typeface="Calibri"/>
                <a:cs typeface="Calibri"/>
              </a:rPr>
              <a:t xml:space="preserve">THE PROBLEM</a:t>
            </a:r>
          </a:p>
          <a:p>
            <a:pPr marL="171450" indent="-171450" algn="l">
              <a:spcAft>
                <a:spcPts val="500"/>
              </a:spcAft>
              <a:buClr>
                <a:srgbClr val="5B3BA8"/>
              </a:buClr>
              <a:buFont typeface="Arial"/>
              <a:buChar char="•"/>
            </a:pPr>
            <a:r>
              <a:rPr lang="en-US" sz="1150" b="1" dirty="0">
                <a:solidFill>
                  <a:srgbClr val="2E1B5B"/>
                </a:solidFill>
                <a:latin typeface="Calibri"/>
                <a:cs typeface="Calibri"/>
              </a:rPr>
              <a:t xml:space="preserve">Screening is slow and costly: </a:t>
            </a:r>
            <a:r>
              <a:rPr lang="en-US" sz="1150" dirty="0">
                <a:solidFill>
                  <a:srgbClr val="2E1B5B"/>
                </a:solidFill>
                <a:latin typeface="Calibri"/>
                <a:cs typeface="Calibri"/>
              </a:rPr>
              <a:t xml:space="preserve">drug discovery tests thousands of molecules to find the few that block a target protein.</a:t>
            </a:r>
          </a:p>
          <a:p>
            <a:pPr marL="171450" indent="-171450" algn="l">
              <a:spcAft>
                <a:spcPts val="500"/>
              </a:spcAft>
              <a:buClr>
                <a:srgbClr val="5B3BA8"/>
              </a:buClr>
              <a:buFont typeface="Arial"/>
              <a:buChar char="•"/>
            </a:pPr>
            <a:r>
              <a:rPr lang="en-US" sz="1150" b="1" dirty="0">
                <a:solidFill>
                  <a:srgbClr val="2E1B5B"/>
                </a:solidFill>
                <a:latin typeface="Calibri"/>
                <a:cs typeface="Calibri"/>
              </a:rPr>
              <a:t xml:space="preserve">Labels are scarce: </a:t>
            </a:r>
            <a:r>
              <a:rPr lang="en-US" sz="1150" dirty="0">
                <a:solidFill>
                  <a:srgbClr val="2E1B5B"/>
                </a:solidFill>
                <a:latin typeface="Calibri"/>
                <a:cs typeface="Calibri"/>
              </a:rPr>
              <a:t xml:space="preserve">lab-measured activity is expensive, so models must learn from few examples.</a:t>
            </a:r>
          </a:p>
          <a:p>
            <a:pPr marL="171450" indent="-171450" algn="l">
              <a:spcAft>
                <a:spcPts val="500"/>
              </a:spcAft>
              <a:buClr>
                <a:srgbClr val="5B3BA8"/>
              </a:buClr>
              <a:buFont typeface="Arial"/>
              <a:buChar char="•"/>
            </a:pPr>
            <a:r>
              <a:rPr lang="en-US" sz="1150" b="1" dirty="0">
                <a:solidFill>
                  <a:srgbClr val="2E1B5B"/>
                </a:solidFill>
                <a:latin typeface="Calibri"/>
                <a:cs typeface="Calibri"/>
              </a:rPr>
              <a:t xml:space="preserve">Untested claims: </a:t>
            </a:r>
            <a:r>
              <a:rPr lang="en-US" sz="1150" dirty="0">
                <a:solidFill>
                  <a:srgbClr val="2E1B5B"/>
                </a:solidFill>
                <a:latin typeface="Calibri"/>
                <a:cs typeface="Calibri"/>
              </a:rPr>
              <a:t xml:space="preserve">quantum kernels are said to learn more from less data, but are rarely checked against tuned classical models, realistic splits or real hardware noise.</a:t>
            </a:r>
          </a:p>
        </p:txBody>
      </p:sp>
      <p:sp>
        <p:nvSpPr>
          <p:cNvPr id="102" name="Question box"/>
          <p:cNvSpPr/>
          <p:nvPr/>
        </p:nvSpPr>
        <p:spPr>
          <a:xfrm>
            <a:off x="5577840" y="1828800"/>
            <a:ext cx="2880360" cy="1143000"/>
          </a:xfrm>
          <a:prstGeom prst="roundRect">
            <a:avLst>
              <a:gd name="adj" fmla="val 8000"/>
            </a:avLst>
          </a:prstGeom>
          <a:solidFill>
            <a:srgbClr val="EEF0FD"/>
          </a:solidFill>
          <a:ln>
            <a:noFill/>
          </a:ln>
        </p:spPr>
        <p:txBody>
          <a:bodyPr wrap="square" lIns="109728" tIns="109728" rIns="109728" bIns="109728" rtlCol="0" anchor="t">
            <a:normAutofit/>
          </a:bodyPr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E8639F"/>
                </a:solidFill>
                <a:latin typeface="Calibri"/>
                <a:cs typeface="Calibri"/>
              </a:rPr>
              <a:t xml:space="preserve">Our question</a:t>
            </a:r>
          </a:p>
          <a:p>
            <a:pPr marL="0" indent="0" algn="l">
              <a:spcAft>
                <a:spcPts val="0"/>
              </a:spcAft>
              <a:buNone/>
            </a:pPr>
            <a:r>
              <a:rPr lang="en-US" sz="1200" b="1" dirty="0">
                <a:solidFill>
                  <a:srgbClr val="2E1B5B"/>
                </a:solidFill>
                <a:latin typeface="Calibri"/>
                <a:cs typeface="Calibri"/>
              </a:rPr>
              <a:t xml:space="preserve">Can a quantum kernel find BACE-1 inhibitors better than classical ML when data is scarce and hardware is noisy?</a:t>
            </a:r>
          </a:p>
        </p:txBody>
      </p:sp>
      <p:sp>
        <p:nvSpPr>
          <p:cNvPr id="103" name="Stat molecules"/>
          <p:cNvSpPr txBox="1"/>
          <p:nvPr/>
        </p:nvSpPr>
        <p:spPr>
          <a:xfrm>
            <a:off x="5577840" y="3154680"/>
            <a:ext cx="1371600" cy="1325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2400" b="1" dirty="0">
                <a:solidFill>
                  <a:srgbClr val="5B3BA8"/>
                </a:solidFill>
                <a:latin typeface="Georgia"/>
                <a:cs typeface="Georgia"/>
              </a:rPr>
              <a:t xml:space="preserve">1,513</a:t>
            </a:r>
          </a:p>
          <a:p>
            <a:pPr marL="0" indent="0" algn="l">
              <a:spcAft>
                <a:spcPts val="0"/>
              </a:spcAft>
              <a:buNone/>
            </a:pPr>
            <a:r>
              <a:rPr lang="en-US" sz="1000" dirty="0">
                <a:solidFill>
                  <a:srgbClr val="6F7399"/>
                </a:solidFill>
                <a:latin typeface="Calibri"/>
                <a:cs typeface="Calibri"/>
              </a:rPr>
              <a:t xml:space="preserve">BACE molecules, labelled inhibitor or not</a:t>
            </a:r>
          </a:p>
        </p:txBody>
      </p:sp>
      <p:sp>
        <p:nvSpPr>
          <p:cNvPr id="104" name="Stat target"/>
          <p:cNvSpPr txBox="1"/>
          <p:nvPr/>
        </p:nvSpPr>
        <p:spPr>
          <a:xfrm>
            <a:off x="7086600" y="3154680"/>
            <a:ext cx="1371600" cy="1325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2400" b="1" dirty="0">
                <a:solidFill>
                  <a:srgbClr val="E8639F"/>
                </a:solidFill>
                <a:latin typeface="Georgia"/>
                <a:cs typeface="Georgia"/>
              </a:rPr>
              <a:t xml:space="preserve">BACE-1</a:t>
            </a:r>
          </a:p>
          <a:p>
            <a:pPr marL="0" indent="0" algn="l">
              <a:spcAft>
                <a:spcPts val="0"/>
              </a:spcAft>
              <a:buNone/>
            </a:pPr>
            <a:r>
              <a:rPr lang="en-US" sz="1000" dirty="0">
                <a:solidFill>
                  <a:srgbClr val="6F7399"/>
                </a:solidFill>
                <a:latin typeface="Calibri"/>
                <a:cs typeface="Calibri"/>
              </a:rPr>
              <a:t xml:space="preserve">key enzyme behind amyloid plaques in Alzheimer's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6460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anchor="ctr"/>
          <a:lstStyle>
            <a:lvl1pPr>
              <a:defRPr sz="900">
                <a:solidFill>
                  <a:srgbClr val="2E1B5B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4"/>
          <p:cNvSpPr>
            <a:spLocks noGrp="1"/>
          </p:cNvSpPr>
          <p:nvPr>
            <p:ph type="title" idx="120" hasCustomPrompt="1"/>
          </p:nvPr>
        </p:nvSpPr>
        <p:spPr>
          <a:xfrm>
            <a:off x="457200" y="841248"/>
            <a:ext cx="6309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E1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Objectives &amp; Novelty</a:t>
            </a:r>
            <a:endParaRPr lang="en-US" sz="2600" dirty="0"/>
          </a:p>
        </p:txBody>
      </p:sp>
      <p:sp>
        <p:nvSpPr>
          <p:cNvPr id="3" name="Title accent"/>
          <p:cNvSpPr/>
          <p:nvPr/>
        </p:nvSpPr>
        <p:spPr>
          <a:xfrm>
            <a:off x="457200" y="1463040"/>
            <a:ext cx="256032" cy="45720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</p:sp>
      <p:sp>
        <p:nvSpPr>
          <p:cNvPr id="4" name="Title accent"/>
          <p:cNvSpPr/>
          <p:nvPr/>
        </p:nvSpPr>
        <p:spPr>
          <a:xfrm>
            <a:off x="731520" y="1463040"/>
            <a:ext cx="256032" cy="45720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</p:sp>
      <p:sp>
        <p:nvSpPr>
          <p:cNvPr id="5" name="Title accent"/>
          <p:cNvSpPr/>
          <p:nvPr/>
        </p:nvSpPr>
        <p:spPr>
          <a:xfrm>
            <a:off x="1005840" y="1463040"/>
            <a:ext cx="256032" cy="45720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prstDash val="solid"/>
          </a:ln>
        </p:spPr>
      </p:sp>
      <p:sp>
        <p:nvSpPr>
          <p:cNvPr id="6" name="Content card"/>
          <p:cNvSpPr/>
          <p:nvPr/>
        </p:nvSpPr>
        <p:spPr>
          <a:xfrm>
            <a:off x="457200" y="1691640"/>
            <a:ext cx="822960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B8BDEB"/>
            </a:solidFill>
            <a:prstDash val="solid"/>
          </a:ln>
        </p:spPr>
      </p:sp>
      <p:sp>
        <p:nvSpPr>
          <p:cNvPr id="7" name="Card accent"/>
          <p:cNvSpPr/>
          <p:nvPr/>
        </p:nvSpPr>
        <p:spPr>
          <a:xfrm>
            <a:off x="685800" y="1691640"/>
            <a:ext cx="822960" cy="54864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</p:sp>
      <p:sp>
        <p:nvSpPr>
          <p:cNvPr id="105" name="Objectives"/>
          <p:cNvSpPr txBox="1"/>
          <p:nvPr/>
        </p:nvSpPr>
        <p:spPr>
          <a:xfrm>
            <a:off x="685800" y="1828800"/>
            <a:ext cx="3794760" cy="2697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5B3BA8"/>
                </a:solidFill>
                <a:latin typeface="Calibri"/>
                <a:cs typeface="Calibri"/>
              </a:rPr>
              <a:t xml:space="preserve">OBJECTIVES</a:t>
            </a:r>
          </a:p>
          <a:p>
            <a:pPr marL="0" indent="0" algn="l">
              <a:spcAft>
                <a:spcPts val="500"/>
              </a:spcAft>
              <a:buNone/>
            </a:pPr>
            <a:r>
              <a:rPr lang="en-US" sz="1150" b="1" dirty="0">
                <a:solidFill>
                  <a:srgbClr val="E8639F"/>
                </a:solidFill>
                <a:latin typeface="Calibri"/>
                <a:cs typeface="Calibri"/>
              </a:rPr>
              <a:t xml:space="preserve">1.  </a:t>
            </a:r>
            <a:r>
              <a:rPr lang="en-US" sz="1150" dirty="0">
                <a:solidFill>
                  <a:srgbClr val="2E1B5B"/>
                </a:solidFill>
                <a:latin typeface="Calibri"/>
                <a:cs typeface="Calibri"/>
              </a:rPr>
              <a:t xml:space="preserve">Build an open, reproducible quantum kernel pipeline for BACE-1 inhibitor prediction.</a:t>
            </a:r>
          </a:p>
          <a:p>
            <a:pPr marL="0" indent="0" algn="l">
              <a:spcAft>
                <a:spcPts val="500"/>
              </a:spcAft>
              <a:buNone/>
            </a:pPr>
            <a:r>
              <a:rPr lang="en-US" sz="1150" b="1" dirty="0">
                <a:solidFill>
                  <a:srgbClr val="E8639F"/>
                </a:solidFill>
                <a:latin typeface="Calibri"/>
                <a:cs typeface="Calibri"/>
              </a:rPr>
              <a:t xml:space="preserve">2.  </a:t>
            </a:r>
            <a:r>
              <a:rPr lang="en-US" sz="1150" dirty="0">
                <a:solidFill>
                  <a:srgbClr val="2E1B5B"/>
                </a:solidFill>
                <a:latin typeface="Calibri"/>
                <a:cs typeface="Calibri"/>
              </a:rPr>
              <a:t xml:space="preserve">Compare it fairly with SVM-RBF, Random Forest and Logistic Regression on identical features.</a:t>
            </a:r>
          </a:p>
          <a:p>
            <a:pPr marL="0" indent="0" algn="l">
              <a:spcAft>
                <a:spcPts val="500"/>
              </a:spcAft>
              <a:buNone/>
            </a:pPr>
            <a:r>
              <a:rPr lang="en-US" sz="1150" b="1" dirty="0">
                <a:solidFill>
                  <a:srgbClr val="E8639F"/>
                </a:solidFill>
                <a:latin typeface="Calibri"/>
                <a:cs typeface="Calibri"/>
              </a:rPr>
              <a:t xml:space="preserve">3.  </a:t>
            </a:r>
            <a:r>
              <a:rPr lang="en-US" sz="1150" dirty="0">
                <a:solidFill>
                  <a:srgbClr val="2E1B5B"/>
                </a:solidFill>
                <a:latin typeface="Calibri"/>
                <a:cs typeface="Calibri"/>
              </a:rPr>
              <a:t xml:space="preserve">Test the small-data claim (25 to 1,210 molecules) and scaling (2 to 10 qubits).</a:t>
            </a:r>
          </a:p>
          <a:p>
            <a:pPr marL="0" indent="0" algn="l">
              <a:spcAft>
                <a:spcPts val="500"/>
              </a:spcAft>
              <a:buNone/>
            </a:pPr>
            <a:r>
              <a:rPr lang="en-US" sz="1150" b="1" dirty="0">
                <a:solidFill>
                  <a:srgbClr val="E8639F"/>
                </a:solidFill>
                <a:latin typeface="Calibri"/>
                <a:cs typeface="Calibri"/>
              </a:rPr>
              <a:t xml:space="preserve">4.  </a:t>
            </a:r>
            <a:r>
              <a:rPr lang="en-US" sz="1150" dirty="0">
                <a:solidFill>
                  <a:srgbClr val="2E1B5B"/>
                </a:solidFill>
                <a:latin typeface="Calibri"/>
                <a:cs typeface="Calibri"/>
              </a:rPr>
              <a:t xml:space="preserve">Measure how noise affects the kernel, in simulation and on a real IBM quantum computer.</a:t>
            </a:r>
          </a:p>
        </p:txBody>
      </p:sp>
      <p:sp>
        <p:nvSpPr>
          <p:cNvPr id="106" name="Novelty"/>
          <p:cNvSpPr txBox="1"/>
          <p:nvPr/>
        </p:nvSpPr>
        <p:spPr>
          <a:xfrm>
            <a:off x="4663440" y="1828800"/>
            <a:ext cx="3794760" cy="2697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E8639F"/>
                </a:solidFill>
                <a:latin typeface="Calibri"/>
                <a:cs typeface="Calibri"/>
              </a:rPr>
              <a:t xml:space="preserve">WHAT IS NEW</a:t>
            </a:r>
          </a:p>
          <a:p>
            <a:pPr marL="171450" indent="-171450" algn="l">
              <a:spcAft>
                <a:spcPts val="500"/>
              </a:spcAft>
              <a:buClr>
                <a:srgbClr val="E8639F"/>
              </a:buClr>
              <a:buFont typeface="Arial"/>
              <a:buChar char="•"/>
            </a:pPr>
            <a:r>
              <a:rPr lang="en-US" sz="1150" b="1" dirty="0">
                <a:solidFill>
                  <a:srgbClr val="2E1B5B"/>
                </a:solidFill>
                <a:latin typeface="Calibri"/>
                <a:cs typeface="Calibri"/>
              </a:rPr>
              <a:t xml:space="preserve">Realistic split: </a:t>
            </a:r>
            <a:r>
              <a:rPr lang="en-US" sz="1150" dirty="0">
                <a:solidFill>
                  <a:srgbClr val="2E1B5B"/>
                </a:solidFill>
                <a:latin typeface="Calibri"/>
                <a:cs typeface="Calibri"/>
              </a:rPr>
              <a:t xml:space="preserve">scaffold split, so test molecules come from unseen chemical families.</a:t>
            </a:r>
          </a:p>
          <a:p>
            <a:pPr marL="171450" indent="-171450" algn="l">
              <a:spcAft>
                <a:spcPts val="500"/>
              </a:spcAft>
              <a:buClr>
                <a:srgbClr val="E8639F"/>
              </a:buClr>
              <a:buFont typeface="Arial"/>
              <a:buChar char="•"/>
            </a:pPr>
            <a:r>
              <a:rPr lang="en-US" sz="1150" b="1" dirty="0">
                <a:solidFill>
                  <a:srgbClr val="2E1B5B"/>
                </a:solidFill>
                <a:latin typeface="Calibri"/>
                <a:cs typeface="Calibri"/>
              </a:rPr>
              <a:t xml:space="preserve">Real statistics: </a:t>
            </a:r>
            <a:r>
              <a:rPr lang="en-US" sz="1150" dirty="0">
                <a:solidFill>
                  <a:srgbClr val="2E1B5B"/>
                </a:solidFill>
                <a:latin typeface="Calibri"/>
                <a:cs typeface="Calibri"/>
              </a:rPr>
              <a:t xml:space="preserve">multiple seeds and paired Wilcoxon tests, not a single lucky run.</a:t>
            </a:r>
          </a:p>
          <a:p>
            <a:pPr marL="171450" indent="-171450" algn="l">
              <a:spcAft>
                <a:spcPts val="500"/>
              </a:spcAft>
              <a:buClr>
                <a:srgbClr val="E8639F"/>
              </a:buClr>
              <a:buFont typeface="Arial"/>
              <a:buChar char="•"/>
            </a:pPr>
            <a:r>
              <a:rPr lang="en-US" sz="1150" b="1" dirty="0">
                <a:solidFill>
                  <a:srgbClr val="2E1B5B"/>
                </a:solidFill>
                <a:latin typeface="Calibri"/>
                <a:cs typeface="Calibri"/>
              </a:rPr>
              <a:t xml:space="preserve">Kernel diagnostics: </a:t>
            </a:r>
            <a:r>
              <a:rPr lang="en-US" sz="1150" dirty="0">
                <a:solidFill>
                  <a:srgbClr val="2E1B5B"/>
                </a:solidFill>
                <a:latin typeface="Calibri"/>
                <a:cs typeface="Calibri"/>
              </a:rPr>
              <a:t xml:space="preserve">geometric difference, label alignment and concentration.</a:t>
            </a:r>
          </a:p>
          <a:p>
            <a:pPr marL="171450" indent="-171450" algn="l">
              <a:spcAft>
                <a:spcPts val="500"/>
              </a:spcAft>
              <a:buClr>
                <a:srgbClr val="E8639F"/>
              </a:buClr>
              <a:buFont typeface="Arial"/>
              <a:buChar char="•"/>
            </a:pPr>
            <a:r>
              <a:rPr lang="en-US" sz="1150" b="1" dirty="0">
                <a:solidFill>
                  <a:srgbClr val="2E1B5B"/>
                </a:solidFill>
                <a:latin typeface="Calibri"/>
                <a:cs typeface="Calibri"/>
              </a:rPr>
              <a:t xml:space="preserve">Hardware check: </a:t>
            </a:r>
            <a:r>
              <a:rPr lang="en-US" sz="1150" dirty="0">
                <a:solidFill>
                  <a:srgbClr val="2E1B5B"/>
                </a:solidFill>
                <a:latin typeface="Calibri"/>
                <a:cs typeface="Calibri"/>
              </a:rPr>
              <a:t xml:space="preserve">simulation compared with ibm_marrakesh, which caught a flaw in our own noise study.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6460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anchor="ctr"/>
          <a:lstStyle>
            <a:lvl1pPr>
              <a:defRPr sz="900">
                <a:solidFill>
                  <a:srgbClr val="2E1B5B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4"/>
          <p:cNvSpPr>
            <a:spLocks noGrp="1"/>
          </p:cNvSpPr>
          <p:nvPr>
            <p:ph type="title" idx="120" hasCustomPrompt="1"/>
          </p:nvPr>
        </p:nvSpPr>
        <p:spPr>
          <a:xfrm>
            <a:off x="457200" y="841248"/>
            <a:ext cx="6309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E1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Solution &amp; Quantum Advantage</a:t>
            </a:r>
            <a:endParaRPr lang="en-US" sz="2600" dirty="0"/>
          </a:p>
        </p:txBody>
      </p:sp>
      <p:sp>
        <p:nvSpPr>
          <p:cNvPr id="3" name="Title accent"/>
          <p:cNvSpPr/>
          <p:nvPr/>
        </p:nvSpPr>
        <p:spPr>
          <a:xfrm>
            <a:off x="457200" y="1463040"/>
            <a:ext cx="256032" cy="45720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</p:sp>
      <p:sp>
        <p:nvSpPr>
          <p:cNvPr id="4" name="Title accent"/>
          <p:cNvSpPr/>
          <p:nvPr/>
        </p:nvSpPr>
        <p:spPr>
          <a:xfrm>
            <a:off x="731520" y="1463040"/>
            <a:ext cx="256032" cy="45720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</p:sp>
      <p:sp>
        <p:nvSpPr>
          <p:cNvPr id="5" name="Title accent"/>
          <p:cNvSpPr/>
          <p:nvPr/>
        </p:nvSpPr>
        <p:spPr>
          <a:xfrm>
            <a:off x="1005840" y="1463040"/>
            <a:ext cx="256032" cy="45720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prstDash val="solid"/>
          </a:ln>
        </p:spPr>
      </p:sp>
      <p:sp>
        <p:nvSpPr>
          <p:cNvPr id="6" name="Content card"/>
          <p:cNvSpPr/>
          <p:nvPr/>
        </p:nvSpPr>
        <p:spPr>
          <a:xfrm>
            <a:off x="457200" y="1691640"/>
            <a:ext cx="822960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B8BDEB"/>
            </a:solidFill>
            <a:prstDash val="solid"/>
          </a:ln>
        </p:spPr>
      </p:sp>
      <p:sp>
        <p:nvSpPr>
          <p:cNvPr id="7" name="Card accent"/>
          <p:cNvSpPr/>
          <p:nvPr/>
        </p:nvSpPr>
        <p:spPr>
          <a:xfrm>
            <a:off x="685800" y="1691640"/>
            <a:ext cx="822960" cy="54864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prstDash val="solid"/>
          </a:ln>
        </p:spPr>
      </p:sp>
      <p:sp>
        <p:nvSpPr>
          <p:cNvPr id="107" name="Step DATA"/>
          <p:cNvSpPr/>
          <p:nvPr/>
        </p:nvSpPr>
        <p:spPr>
          <a:xfrm>
            <a:off x="685800" y="1828800"/>
            <a:ext cx="1691640" cy="822960"/>
          </a:xfrm>
          <a:prstGeom prst="roundRect">
            <a:avLst>
              <a:gd name="adj" fmla="val 8000"/>
            </a:avLst>
          </a:prstGeom>
          <a:solidFill>
            <a:srgbClr val="EEF0FD"/>
          </a:solidFill>
          <a:ln>
            <a:noFill/>
          </a:ln>
        </p:spPr>
        <p:txBody>
          <a:bodyPr wrap="square" lIns="54864" tIns="54864" rIns="54864" bIns="54864" rtlCol="0" anchor="ctr">
            <a:normAutofit/>
          </a:bodyPr>
          <a:lstStyle/>
          <a:p>
            <a:pPr marL="0" indent="0" algn="ctr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3F57C8"/>
                </a:solidFill>
                <a:latin typeface="Calibri"/>
                <a:cs typeface="Calibri"/>
              </a:rPr>
              <a:t xml:space="preserve">DATA</a:t>
            </a:r>
          </a:p>
          <a:p>
            <a:pPr marL="0" indent="0" algn="ctr">
              <a:spcAft>
                <a:spcPts val="0"/>
              </a:spcAft>
              <a:buNone/>
            </a:pPr>
            <a:r>
              <a:rPr lang="en-US" sz="1050" dirty="0">
                <a:solidFill>
                  <a:srgbClr val="2E1B5B"/>
                </a:solidFill>
                <a:latin typeface="Calibri"/>
                <a:cs typeface="Calibri"/>
              </a:rPr>
              <a:t xml:space="preserve">1,513 BACE molecules, scaffold split</a:t>
            </a:r>
          </a:p>
        </p:txBody>
      </p:sp>
      <p:sp>
        <p:nvSpPr>
          <p:cNvPr id="108" name="Arrow 0"/>
          <p:cNvSpPr txBox="1"/>
          <p:nvPr/>
        </p:nvSpPr>
        <p:spPr>
          <a:xfrm>
            <a:off x="2377440" y="2057400"/>
            <a:ext cx="338328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600" b="1" dirty="0">
                <a:solidFill>
                  <a:srgbClr val="5B3BA8"/>
                </a:solidFill>
                <a:latin typeface="Calibri"/>
                <a:cs typeface="Calibri"/>
              </a:rPr>
              <a:t xml:space="preserve">→</a:t>
            </a:r>
          </a:p>
        </p:txBody>
      </p:sp>
      <p:sp>
        <p:nvSpPr>
          <p:cNvPr id="109" name="Step FEATURES"/>
          <p:cNvSpPr/>
          <p:nvPr/>
        </p:nvSpPr>
        <p:spPr>
          <a:xfrm>
            <a:off x="2715768" y="1828800"/>
            <a:ext cx="1691640" cy="822960"/>
          </a:xfrm>
          <a:prstGeom prst="roundRect">
            <a:avLst>
              <a:gd name="adj" fmla="val 8000"/>
            </a:avLst>
          </a:prstGeom>
          <a:solidFill>
            <a:srgbClr val="EEF0FD"/>
          </a:solidFill>
          <a:ln>
            <a:noFill/>
          </a:ln>
        </p:spPr>
        <p:txBody>
          <a:bodyPr wrap="square" lIns="54864" tIns="54864" rIns="54864" bIns="54864" rtlCol="0" anchor="ctr">
            <a:normAutofit/>
          </a:bodyPr>
          <a:lstStyle/>
          <a:p>
            <a:pPr marL="0" indent="0" algn="ctr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E8639F"/>
                </a:solidFill>
                <a:latin typeface="Calibri"/>
                <a:cs typeface="Calibri"/>
              </a:rPr>
              <a:t xml:space="preserve">FEATURES</a:t>
            </a:r>
          </a:p>
          <a:p>
            <a:pPr marL="0" indent="0" algn="ctr">
              <a:spcAft>
                <a:spcPts val="0"/>
              </a:spcAft>
              <a:buNone/>
            </a:pPr>
            <a:r>
              <a:rPr lang="en-US" sz="1050" dirty="0">
                <a:solidFill>
                  <a:srgbClr val="2E1B5B"/>
                </a:solidFill>
                <a:latin typeface="Calibri"/>
                <a:cs typeface="Calibri"/>
              </a:rPr>
              <a:t xml:space="preserve">ECFP4 fingerprint, PCA to one angle per qubit</a:t>
            </a:r>
          </a:p>
        </p:txBody>
      </p:sp>
      <p:sp>
        <p:nvSpPr>
          <p:cNvPr id="110" name="Arrow 1"/>
          <p:cNvSpPr txBox="1"/>
          <p:nvPr/>
        </p:nvSpPr>
        <p:spPr>
          <a:xfrm>
            <a:off x="4407408" y="2057400"/>
            <a:ext cx="338328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600" b="1" dirty="0">
                <a:solidFill>
                  <a:srgbClr val="5B3BA8"/>
                </a:solidFill>
                <a:latin typeface="Calibri"/>
                <a:cs typeface="Calibri"/>
              </a:rPr>
              <a:t xml:space="preserve">→</a:t>
            </a:r>
          </a:p>
        </p:txBody>
      </p:sp>
      <p:sp>
        <p:nvSpPr>
          <p:cNvPr id="111" name="Step QUANTUM"/>
          <p:cNvSpPr/>
          <p:nvPr/>
        </p:nvSpPr>
        <p:spPr>
          <a:xfrm>
            <a:off x="4745736" y="1828800"/>
            <a:ext cx="1691640" cy="822960"/>
          </a:xfrm>
          <a:prstGeom prst="roundRect">
            <a:avLst>
              <a:gd name="adj" fmla="val 8000"/>
            </a:avLst>
          </a:prstGeom>
          <a:solidFill>
            <a:srgbClr val="EEF0FD"/>
          </a:solidFill>
          <a:ln>
            <a:noFill/>
          </a:ln>
        </p:spPr>
        <p:txBody>
          <a:bodyPr wrap="square" lIns="54864" tIns="54864" rIns="54864" bIns="54864" rtlCol="0" anchor="ctr">
            <a:normAutofit/>
          </a:bodyPr>
          <a:lstStyle/>
          <a:p>
            <a:pPr marL="0" indent="0" algn="ctr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5B3BA8"/>
                </a:solidFill>
                <a:latin typeface="Calibri"/>
                <a:cs typeface="Calibri"/>
              </a:rPr>
              <a:t xml:space="preserve">QUANTUM</a:t>
            </a:r>
          </a:p>
          <a:p>
            <a:pPr marL="0" indent="0" algn="ctr">
              <a:spcAft>
                <a:spcPts val="0"/>
              </a:spcAft>
              <a:buNone/>
            </a:pPr>
            <a:r>
              <a:rPr lang="en-US" sz="1050" dirty="0">
                <a:solidFill>
                  <a:srgbClr val="2E1B5B"/>
                </a:solidFill>
                <a:latin typeface="Calibri"/>
                <a:cs typeface="Calibri"/>
              </a:rPr>
              <a:t xml:space="preserve">ZZ feature map, fidelity kernel</a:t>
            </a:r>
          </a:p>
        </p:txBody>
      </p:sp>
      <p:sp>
        <p:nvSpPr>
          <p:cNvPr id="112" name="Arrow 2"/>
          <p:cNvSpPr txBox="1"/>
          <p:nvPr/>
        </p:nvSpPr>
        <p:spPr>
          <a:xfrm>
            <a:off x="6437376" y="2057400"/>
            <a:ext cx="338328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600" b="1" dirty="0">
                <a:solidFill>
                  <a:srgbClr val="5B3BA8"/>
                </a:solidFill>
                <a:latin typeface="Calibri"/>
                <a:cs typeface="Calibri"/>
              </a:rPr>
              <a:t xml:space="preserve">→</a:t>
            </a:r>
          </a:p>
        </p:txBody>
      </p:sp>
      <p:sp>
        <p:nvSpPr>
          <p:cNvPr id="113" name="Step MODEL"/>
          <p:cNvSpPr/>
          <p:nvPr/>
        </p:nvSpPr>
        <p:spPr>
          <a:xfrm>
            <a:off x="6775704" y="1828800"/>
            <a:ext cx="1691640" cy="822960"/>
          </a:xfrm>
          <a:prstGeom prst="roundRect">
            <a:avLst>
              <a:gd name="adj" fmla="val 8000"/>
            </a:avLst>
          </a:prstGeom>
          <a:solidFill>
            <a:srgbClr val="EEF0FD"/>
          </a:solidFill>
          <a:ln>
            <a:noFill/>
          </a:ln>
        </p:spPr>
        <p:txBody>
          <a:bodyPr wrap="square" lIns="54864" tIns="54864" rIns="54864" bIns="54864" rtlCol="0" anchor="ctr">
            <a:normAutofit/>
          </a:bodyPr>
          <a:lstStyle/>
          <a:p>
            <a:pPr marL="0" indent="0" algn="ctr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E8639F"/>
                </a:solidFill>
                <a:latin typeface="Calibri"/>
                <a:cs typeface="Calibri"/>
              </a:rPr>
              <a:t xml:space="preserve">MODEL</a:t>
            </a:r>
          </a:p>
          <a:p>
            <a:pPr marL="0" indent="0" algn="ctr">
              <a:spcAft>
                <a:spcPts val="0"/>
              </a:spcAft>
              <a:buNone/>
            </a:pPr>
            <a:r>
              <a:rPr lang="en-US" sz="1050" dirty="0">
                <a:solidFill>
                  <a:srgbClr val="2E1B5B"/>
                </a:solidFill>
                <a:latin typeface="Calibri"/>
                <a:cs typeface="Calibri"/>
              </a:rPr>
              <a:t xml:space="preserve">Kernel SVM (QSVC) vs 3 classical models</a:t>
            </a:r>
          </a:p>
        </p:txBody>
      </p:sp>
      <p:sp>
        <p:nvSpPr>
          <p:cNvPr id="114" name="Solution"/>
          <p:cNvSpPr txBox="1"/>
          <p:nvPr/>
        </p:nvSpPr>
        <p:spPr>
          <a:xfrm>
            <a:off x="685800" y="2834640"/>
            <a:ext cx="3794760" cy="1691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5B3BA8"/>
                </a:solidFill>
                <a:latin typeface="Calibri"/>
                <a:cs typeface="Calibri"/>
              </a:rPr>
              <a:t xml:space="preserve">HOW IT WORKS</a:t>
            </a:r>
          </a:p>
          <a:p>
            <a:pPr marL="171450" indent="-171450" algn="l">
              <a:spcAft>
                <a:spcPts val="500"/>
              </a:spcAft>
              <a:buClr>
                <a:srgbClr val="5B3BA8"/>
              </a:buClr>
              <a:buFont typeface="Arial"/>
              <a:buChar char="•"/>
            </a:pPr>
            <a:r>
              <a:rPr lang="en-US" sz="1100" dirty="0">
                <a:solidFill>
                  <a:srgbClr val="2E1B5B"/>
                </a:solidFill>
                <a:latin typeface="Calibri"/>
                <a:cs typeface="Calibri"/>
              </a:rPr>
              <a:t xml:space="preserve">Each molecule is compressed to a few angles and loaded into a ZZ feature map circuit.</a:t>
            </a:r>
          </a:p>
          <a:p>
            <a:pPr marL="171450" indent="-171450" algn="l">
              <a:spcAft>
                <a:spcPts val="500"/>
              </a:spcAft>
              <a:buClr>
                <a:srgbClr val="5B3BA8"/>
              </a:buClr>
              <a:buFont typeface="Arial"/>
              <a:buChar char="•"/>
            </a:pPr>
            <a:r>
              <a:rPr lang="en-US" sz="1100" b="1" dirty="0">
                <a:solidFill>
                  <a:srgbClr val="2E1B5B"/>
                </a:solidFill>
                <a:latin typeface="Calibri"/>
                <a:cs typeface="Calibri"/>
              </a:rPr>
              <a:t xml:space="preserve">Kernel: </a:t>
            </a:r>
            <a:r>
              <a:rPr lang="en-US" sz="1100" dirty="0">
                <a:solidFill>
                  <a:srgbClr val="2E1B5B"/>
                </a:solidFill>
                <a:latin typeface="Calibri"/>
                <a:cs typeface="Calibri"/>
              </a:rPr>
              <a:t xml:space="preserve">k(x, y) = |⟨φ(x)|φ(y)⟩|², the overlap of two molecules' quantum states.</a:t>
            </a:r>
          </a:p>
          <a:p>
            <a:pPr marL="171450" indent="-171450" algn="l">
              <a:spcAft>
                <a:spcPts val="500"/>
              </a:spcAft>
              <a:buClr>
                <a:srgbClr val="5B3BA8"/>
              </a:buClr>
              <a:buFont typeface="Arial"/>
              <a:buChar char="•"/>
            </a:pPr>
            <a:r>
              <a:rPr lang="en-US" sz="1100" dirty="0">
                <a:solidFill>
                  <a:srgbClr val="2E1B5B"/>
                </a:solidFill>
                <a:latin typeface="Calibri"/>
                <a:cs typeface="Calibri"/>
              </a:rPr>
              <a:t xml:space="preserve">An SVM learns on this kernel; classical models get exactly the same features.</a:t>
            </a:r>
          </a:p>
        </p:txBody>
      </p:sp>
      <p:sp>
        <p:nvSpPr>
          <p:cNvPr id="115" name="Advantage"/>
          <p:cNvSpPr txBox="1"/>
          <p:nvPr/>
        </p:nvSpPr>
        <p:spPr>
          <a:xfrm>
            <a:off x="4663440" y="2834640"/>
            <a:ext cx="3794760" cy="1691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E8639F"/>
                </a:solidFill>
                <a:latin typeface="Calibri"/>
                <a:cs typeface="Calibri"/>
              </a:rPr>
              <a:t xml:space="preserve">WHERE QUANTUM COULD HELP</a:t>
            </a:r>
          </a:p>
          <a:p>
            <a:pPr marL="171450" indent="-171450" algn="l">
              <a:spcAft>
                <a:spcPts val="500"/>
              </a:spcAft>
              <a:buClr>
                <a:srgbClr val="E8639F"/>
              </a:buClr>
              <a:buFont typeface="Arial"/>
              <a:buChar char="•"/>
            </a:pPr>
            <a:r>
              <a:rPr lang="en-US" sz="1100" b="1" dirty="0">
                <a:solidFill>
                  <a:srgbClr val="2E1B5B"/>
                </a:solidFill>
                <a:latin typeface="Calibri"/>
                <a:cs typeface="Calibri"/>
              </a:rPr>
              <a:t xml:space="preserve">Hard to simulate: </a:t>
            </a:r>
            <a:r>
              <a:rPr lang="en-US" sz="1100" dirty="0">
                <a:solidFill>
                  <a:srgbClr val="2E1B5B"/>
                </a:solidFill>
                <a:latin typeface="Calibri"/>
                <a:cs typeface="Calibri"/>
              </a:rPr>
              <a:t xml:space="preserve">entangling feature maps become infeasible to compute classically as qubits grow.</a:t>
            </a:r>
          </a:p>
          <a:p>
            <a:pPr marL="171450" indent="-171450" algn="l">
              <a:spcAft>
                <a:spcPts val="500"/>
              </a:spcAft>
              <a:buClr>
                <a:srgbClr val="E8639F"/>
              </a:buClr>
              <a:buFont typeface="Arial"/>
              <a:buChar char="•"/>
            </a:pPr>
            <a:r>
              <a:rPr lang="en-US" sz="1100" b="1" dirty="0">
                <a:solidFill>
                  <a:srgbClr val="2E1B5B"/>
                </a:solidFill>
                <a:latin typeface="Calibri"/>
                <a:cs typeface="Calibri"/>
              </a:rPr>
              <a:t xml:space="preserve">A different view of the data: </a:t>
            </a:r>
            <a:r>
              <a:rPr lang="en-US" sz="1100" dirty="0">
                <a:solidFill>
                  <a:srgbClr val="2E1B5B"/>
                </a:solidFill>
                <a:latin typeface="Calibri"/>
                <a:cs typeface="Calibri"/>
              </a:rPr>
              <a:t xml:space="preserve">geometric difference vs RBF up to about 100.</a:t>
            </a:r>
          </a:p>
          <a:p>
            <a:pPr marL="171450" indent="-171450" algn="l">
              <a:spcAft>
                <a:spcPts val="500"/>
              </a:spcAft>
              <a:buClr>
                <a:srgbClr val="E8639F"/>
              </a:buClr>
              <a:buFont typeface="Arial"/>
              <a:buChar char="•"/>
            </a:pPr>
            <a:r>
              <a:rPr lang="en-US" sz="1100" b="1" dirty="0">
                <a:solidFill>
                  <a:srgbClr val="2E1B5B"/>
                </a:solidFill>
                <a:latin typeface="Calibri"/>
                <a:cs typeface="Calibri"/>
              </a:rPr>
              <a:t xml:space="preserve">Better label alignment: </a:t>
            </a:r>
            <a:r>
              <a:rPr lang="en-US" sz="1100" dirty="0">
                <a:solidFill>
                  <a:srgbClr val="2E1B5B"/>
                </a:solidFill>
                <a:latin typeface="Calibri"/>
                <a:cs typeface="Calibri"/>
              </a:rPr>
              <a:t xml:space="preserve">0.15 to 0.18 vs 0.09 to 0.10 for RBF.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6460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anchor="ctr"/>
          <a:lstStyle>
            <a:lvl1pPr>
              <a:defRPr sz="900">
                <a:solidFill>
                  <a:srgbClr val="2E1B5B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4"/>
          <p:cNvSpPr>
            <a:spLocks noGrp="1"/>
          </p:cNvSpPr>
          <p:nvPr>
            <p:ph type="title" idx="120" hasCustomPrompt="1"/>
          </p:nvPr>
        </p:nvSpPr>
        <p:spPr>
          <a:xfrm>
            <a:off x="457200" y="841248"/>
            <a:ext cx="6309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E1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Algorithm &amp; Circuit Design</a:t>
            </a:r>
            <a:endParaRPr lang="en-US" sz="2600" dirty="0"/>
          </a:p>
        </p:txBody>
      </p:sp>
      <p:sp>
        <p:nvSpPr>
          <p:cNvPr id="3" name="Title accent"/>
          <p:cNvSpPr/>
          <p:nvPr/>
        </p:nvSpPr>
        <p:spPr>
          <a:xfrm>
            <a:off x="457200" y="1463040"/>
            <a:ext cx="256032" cy="45720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</p:sp>
      <p:sp>
        <p:nvSpPr>
          <p:cNvPr id="4" name="Title accent"/>
          <p:cNvSpPr/>
          <p:nvPr/>
        </p:nvSpPr>
        <p:spPr>
          <a:xfrm>
            <a:off x="731520" y="1463040"/>
            <a:ext cx="256032" cy="45720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</p:sp>
      <p:sp>
        <p:nvSpPr>
          <p:cNvPr id="5" name="Title accent"/>
          <p:cNvSpPr/>
          <p:nvPr/>
        </p:nvSpPr>
        <p:spPr>
          <a:xfrm>
            <a:off x="1005840" y="1463040"/>
            <a:ext cx="256032" cy="45720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prstDash val="solid"/>
          </a:ln>
        </p:spPr>
      </p:sp>
      <p:sp>
        <p:nvSpPr>
          <p:cNvPr id="6" name="Insert area"/>
          <p:cNvSpPr/>
          <p:nvPr/>
        </p:nvSpPr>
        <p:spPr>
          <a:xfrm>
            <a:off x="457200" y="1691640"/>
            <a:ext cx="4937760" cy="2926080"/>
          </a:xfrm>
          <a:prstGeom prst="roundRect">
            <a:avLst>
              <a:gd name="adj" fmla="val 2500"/>
            </a:avLst>
          </a:prstGeom>
          <a:solidFill>
            <a:srgbClr val="EEF0FE"/>
          </a:solidFill>
          <a:ln w="15875">
            <a:solidFill>
              <a:srgbClr val="7C93F0"/>
            </a:solidFill>
            <a:prstDash val="dash"/>
          </a:ln>
        </p:spPr>
      </p:sp>
      <p:pic>
        <p:nvPicPr>
          <p:cNvPr id="116" name="ZZ feature map circuit" descr="ZZ feature map circui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949095"/>
            <a:ext cx="4663440" cy="2136850"/>
          </a:xfrm>
          <a:prstGeom prst="rect">
            <a:avLst/>
          </a:prstGeom>
        </p:spPr>
      </p:pic>
      <p:sp>
        <p:nvSpPr>
          <p:cNvPr id="117" name="Circuit caption"/>
          <p:cNvSpPr txBox="1"/>
          <p:nvPr/>
        </p:nvSpPr>
        <p:spPr>
          <a:xfrm>
            <a:off x="594360" y="4131665"/>
            <a:ext cx="466344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950" i="1" dirty="0">
                <a:solidFill>
                  <a:srgbClr val="6F7399"/>
                </a:solidFill>
                <a:latin typeface="Calibri"/>
                <a:cs typeface="Calibri"/>
              </a:rPr>
              <a:t xml:space="preserve">ZZFeatureMap, 4 qubits, reps = 2, linear entanglement (Qiskit)</a:t>
            </a:r>
          </a:p>
        </p:txBody>
      </p:sp>
      <p:sp>
        <p:nvSpPr>
          <p:cNvPr id="8" name="Content card"/>
          <p:cNvSpPr/>
          <p:nvPr/>
        </p:nvSpPr>
        <p:spPr>
          <a:xfrm>
            <a:off x="5577840" y="1691640"/>
            <a:ext cx="310896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B8BDEB"/>
            </a:solidFill>
            <a:prstDash val="solid"/>
          </a:ln>
        </p:spPr>
      </p:sp>
      <p:sp>
        <p:nvSpPr>
          <p:cNvPr id="9" name="Card accent"/>
          <p:cNvSpPr/>
          <p:nvPr/>
        </p:nvSpPr>
        <p:spPr>
          <a:xfrm>
            <a:off x="5806440" y="1691640"/>
            <a:ext cx="822960" cy="54864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</p:sp>
      <p:sp>
        <p:nvSpPr>
          <p:cNvPr id="118" name="Key details"/>
          <p:cNvSpPr txBox="1"/>
          <p:nvPr/>
        </p:nvSpPr>
        <p:spPr>
          <a:xfrm>
            <a:off x="5760720" y="1810512"/>
            <a:ext cx="2743200" cy="2697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marL="171450" indent="-171450" algn="l">
              <a:spcAft>
                <a:spcPts val="400"/>
              </a:spcAft>
              <a:buClr>
                <a:srgbClr val="5B3BA8"/>
              </a:buClr>
              <a:buFont typeface="Arial"/>
              <a:buChar char="•"/>
            </a:pPr>
            <a:r>
              <a:rPr lang="en-US" sz="1050" b="1" dirty="0">
                <a:solidFill>
                  <a:srgbClr val="2E1B5B"/>
                </a:solidFill>
                <a:latin typeface="Calibri"/>
                <a:cs typeface="Calibri"/>
              </a:rPr>
              <a:t xml:space="preserve">Encode: </a:t>
            </a:r>
            <a:r>
              <a:rPr lang="en-US" sz="1050" dirty="0">
                <a:solidFill>
                  <a:srgbClr val="2E1B5B"/>
                </a:solidFill>
                <a:latin typeface="Calibri"/>
                <a:cs typeface="Calibri"/>
              </a:rPr>
              <a:t xml:space="preserve">ECFP4 (2048 bits), standardise, PCA to n values, scale to [0, π].</a:t>
            </a:r>
          </a:p>
          <a:p>
            <a:pPr marL="171450" indent="-171450" algn="l">
              <a:spcAft>
                <a:spcPts val="400"/>
              </a:spcAft>
              <a:buClr>
                <a:srgbClr val="5B3BA8"/>
              </a:buClr>
              <a:buFont typeface="Arial"/>
              <a:buChar char="•"/>
            </a:pPr>
            <a:r>
              <a:rPr lang="en-US" sz="1050" b="1" dirty="0">
                <a:solidFill>
                  <a:srgbClr val="2E1B5B"/>
                </a:solidFill>
                <a:latin typeface="Calibri"/>
                <a:cs typeface="Calibri"/>
              </a:rPr>
              <a:t xml:space="preserve">Feature map: </a:t>
            </a:r>
            <a:r>
              <a:rPr lang="en-US" sz="1050" dirty="0">
                <a:solidFill>
                  <a:srgbClr val="2E1B5B"/>
                </a:solidFill>
                <a:latin typeface="Calibri"/>
                <a:cs typeface="Calibri"/>
              </a:rPr>
              <a:t xml:space="preserve">Hadamard + Z rotations, ZZ entanglers between neighbours; bandwidth tuned.</a:t>
            </a:r>
          </a:p>
          <a:p>
            <a:pPr marL="171450" indent="-171450" algn="l">
              <a:spcAft>
                <a:spcPts val="400"/>
              </a:spcAft>
              <a:buClr>
                <a:srgbClr val="5B3BA8"/>
              </a:buClr>
              <a:buFont typeface="Arial"/>
              <a:buChar char="•"/>
            </a:pPr>
            <a:r>
              <a:rPr lang="en-US" sz="1050" b="1" dirty="0">
                <a:solidFill>
                  <a:srgbClr val="2E1B5B"/>
                </a:solidFill>
                <a:latin typeface="Calibri"/>
                <a:cs typeface="Calibri"/>
              </a:rPr>
              <a:t xml:space="preserve">Kernel: </a:t>
            </a:r>
            <a:r>
              <a:rPr lang="en-US" sz="1050" dirty="0">
                <a:solidFill>
                  <a:srgbClr val="2E1B5B"/>
                </a:solidFill>
                <a:latin typeface="Calibri"/>
                <a:cs typeface="Calibri"/>
              </a:rPr>
              <a:t xml:space="preserve">compute-uncompute circuit; k = probability of all zeros. Exact statevector for benchmarks, shots for noise and hardware.</a:t>
            </a:r>
          </a:p>
          <a:p>
            <a:pPr marL="171450" indent="-171450" algn="l">
              <a:spcAft>
                <a:spcPts val="400"/>
              </a:spcAft>
              <a:buClr>
                <a:srgbClr val="5B3BA8"/>
              </a:buClr>
              <a:buFont typeface="Arial"/>
              <a:buChar char="•"/>
            </a:pPr>
            <a:r>
              <a:rPr lang="en-US" sz="1050" b="1" dirty="0">
                <a:solidFill>
                  <a:srgbClr val="2E1B5B"/>
                </a:solidFill>
                <a:latin typeface="Calibri"/>
                <a:cs typeface="Calibri"/>
              </a:rPr>
              <a:t xml:space="preserve">Classifier: </a:t>
            </a:r>
            <a:r>
              <a:rPr lang="en-US" sz="1050" dirty="0">
                <a:solidFill>
                  <a:srgbClr val="2E1B5B"/>
                </a:solidFill>
                <a:latin typeface="Calibri"/>
                <a:cs typeface="Calibri"/>
              </a:rPr>
              <a:t xml:space="preserve">SVM on the precomputed kernel; C and bandwidth by inner cross-validation.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6460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anchor="ctr"/>
          <a:lstStyle>
            <a:lvl1pPr>
              <a:defRPr sz="900">
                <a:solidFill>
                  <a:srgbClr val="2E1B5B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4"/>
          <p:cNvSpPr>
            <a:spLocks noGrp="1"/>
          </p:cNvSpPr>
          <p:nvPr>
            <p:ph type="title" idx="120" hasCustomPrompt="1"/>
          </p:nvPr>
        </p:nvSpPr>
        <p:spPr>
          <a:xfrm>
            <a:off x="457200" y="841248"/>
            <a:ext cx="6309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E1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Implementation &amp; Tech Stack</a:t>
            </a:r>
            <a:endParaRPr lang="en-US" sz="2600" dirty="0"/>
          </a:p>
        </p:txBody>
      </p:sp>
      <p:sp>
        <p:nvSpPr>
          <p:cNvPr id="3" name="Title accent"/>
          <p:cNvSpPr/>
          <p:nvPr/>
        </p:nvSpPr>
        <p:spPr>
          <a:xfrm>
            <a:off x="457200" y="1463040"/>
            <a:ext cx="256032" cy="45720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</p:sp>
      <p:sp>
        <p:nvSpPr>
          <p:cNvPr id="4" name="Title accent"/>
          <p:cNvSpPr/>
          <p:nvPr/>
        </p:nvSpPr>
        <p:spPr>
          <a:xfrm>
            <a:off x="731520" y="1463040"/>
            <a:ext cx="256032" cy="45720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</p:sp>
      <p:sp>
        <p:nvSpPr>
          <p:cNvPr id="5" name="Title accent"/>
          <p:cNvSpPr/>
          <p:nvPr/>
        </p:nvSpPr>
        <p:spPr>
          <a:xfrm>
            <a:off x="1005840" y="1463040"/>
            <a:ext cx="256032" cy="45720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prstDash val="solid"/>
          </a:ln>
        </p:spPr>
      </p:sp>
      <p:sp>
        <p:nvSpPr>
          <p:cNvPr id="6" name="Content card"/>
          <p:cNvSpPr/>
          <p:nvPr/>
        </p:nvSpPr>
        <p:spPr>
          <a:xfrm>
            <a:off x="457200" y="1691640"/>
            <a:ext cx="822960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B8BDEB"/>
            </a:solidFill>
            <a:prstDash val="solid"/>
          </a:ln>
        </p:spPr>
      </p:sp>
      <p:sp>
        <p:nvSpPr>
          <p:cNvPr id="7" name="Card accent"/>
          <p:cNvSpPr/>
          <p:nvPr/>
        </p:nvSpPr>
        <p:spPr>
          <a:xfrm>
            <a:off x="685800" y="1691640"/>
            <a:ext cx="822960" cy="54864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</p:sp>
      <p:sp>
        <p:nvSpPr>
          <p:cNvPr id="119" name="Modules"/>
          <p:cNvSpPr txBox="1"/>
          <p:nvPr/>
        </p:nvSpPr>
        <p:spPr>
          <a:xfrm>
            <a:off x="685800" y="1828800"/>
            <a:ext cx="4206240" cy="2697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5B3BA8"/>
                </a:solidFill>
                <a:latin typeface="Calibri"/>
                <a:cs typeface="Calibri"/>
              </a:rPr>
              <a:t xml:space="preserve">PIPELINE MODULES (SRC/QUDOCK)</a:t>
            </a:r>
          </a:p>
          <a:p>
            <a:pPr marL="171450" indent="-171450" algn="l">
              <a:spcAft>
                <a:spcPts val="400"/>
              </a:spcAft>
              <a:buClr>
                <a:srgbClr val="5B3BA8"/>
              </a:buClr>
              <a:buFont typeface="Arial"/>
              <a:buChar char="•"/>
            </a:pPr>
            <a:r>
              <a:rPr lang="en-US" sz="1050" b="1" dirty="0">
                <a:solidFill>
                  <a:srgbClr val="2E1B5B"/>
                </a:solidFill>
                <a:latin typeface="Calibri"/>
                <a:cs typeface="Calibri"/>
              </a:rPr>
              <a:t xml:space="preserve">data / features: </a:t>
            </a:r>
            <a:r>
              <a:rPr lang="en-US" sz="1050" dirty="0">
                <a:solidFill>
                  <a:srgbClr val="2E1B5B"/>
                </a:solidFill>
                <a:latin typeface="Calibri"/>
                <a:cs typeface="Calibri"/>
              </a:rPr>
              <a:t xml:space="preserve">BACE download, cleaning, scaffold split, fingerprints, PCA</a:t>
            </a:r>
          </a:p>
          <a:p>
            <a:pPr marL="171450" indent="-171450" algn="l">
              <a:spcAft>
                <a:spcPts val="400"/>
              </a:spcAft>
              <a:buClr>
                <a:srgbClr val="5B3BA8"/>
              </a:buClr>
              <a:buFont typeface="Arial"/>
              <a:buChar char="•"/>
            </a:pPr>
            <a:r>
              <a:rPr lang="en-US" sz="1050" b="1" dirty="0">
                <a:solidFill>
                  <a:srgbClr val="2E1B5B"/>
                </a:solidFill>
                <a:latin typeface="Calibri"/>
                <a:cs typeface="Calibri"/>
              </a:rPr>
              <a:t xml:space="preserve">quantum / classical: </a:t>
            </a:r>
            <a:r>
              <a:rPr lang="en-US" sz="1050" dirty="0">
                <a:solidFill>
                  <a:srgbClr val="2E1B5B"/>
                </a:solidFill>
                <a:latin typeface="Calibri"/>
                <a:cs typeface="Calibri"/>
              </a:rPr>
              <a:t xml:space="preserve">ZZ fidelity kernel + QSVC; SVM-RBF, RF, LogReg</a:t>
            </a:r>
          </a:p>
          <a:p>
            <a:pPr marL="171450" indent="-171450" algn="l">
              <a:spcAft>
                <a:spcPts val="400"/>
              </a:spcAft>
              <a:buClr>
                <a:srgbClr val="5B3BA8"/>
              </a:buClr>
              <a:buFont typeface="Arial"/>
              <a:buChar char="•"/>
            </a:pPr>
            <a:r>
              <a:rPr lang="en-US" sz="1050" b="1" dirty="0">
                <a:solidFill>
                  <a:srgbClr val="2E1B5B"/>
                </a:solidFill>
                <a:latin typeface="Calibri"/>
                <a:cs typeface="Calibri"/>
              </a:rPr>
              <a:t xml:space="preserve">benchmark / sweep / analysis: </a:t>
            </a:r>
            <a:r>
              <a:rPr lang="en-US" sz="1050" dirty="0">
                <a:solidFill>
                  <a:srgbClr val="2E1B5B"/>
                </a:solidFill>
                <a:latin typeface="Calibri"/>
                <a:cs typeface="Calibri"/>
              </a:rPr>
              <a:t xml:space="preserve">learning curves, qubit sweep, kernel diagnostics, Wilcoxon tests</a:t>
            </a:r>
          </a:p>
          <a:p>
            <a:pPr marL="171450" indent="-171450" algn="l">
              <a:spcAft>
                <a:spcPts val="400"/>
              </a:spcAft>
              <a:buClr>
                <a:srgbClr val="5B3BA8"/>
              </a:buClr>
              <a:buFont typeface="Arial"/>
              <a:buChar char="•"/>
            </a:pPr>
            <a:r>
              <a:rPr lang="en-US" sz="1050" b="1" dirty="0">
                <a:solidFill>
                  <a:srgbClr val="2E1B5B"/>
                </a:solidFill>
                <a:latin typeface="Calibri"/>
                <a:cs typeface="Calibri"/>
              </a:rPr>
              <a:t xml:space="preserve">noise / hardware: </a:t>
            </a:r>
            <a:r>
              <a:rPr lang="en-US" sz="1050" dirty="0">
                <a:solidFill>
                  <a:srgbClr val="2E1B5B"/>
                </a:solidFill>
                <a:latin typeface="Calibri"/>
                <a:cs typeface="Calibri"/>
              </a:rPr>
              <a:t xml:space="preserve">shot-based kernels on FakeTorino and on a real IBM device</a:t>
            </a:r>
          </a:p>
          <a:p>
            <a:pPr marL="171450" indent="-171450" algn="l">
              <a:spcAft>
                <a:spcPts val="400"/>
              </a:spcAft>
              <a:buClr>
                <a:srgbClr val="5B3BA8"/>
              </a:buClr>
              <a:buFont typeface="Arial"/>
              <a:buChar char="•"/>
            </a:pPr>
            <a:r>
              <a:rPr lang="en-US" sz="1050" b="1" dirty="0">
                <a:solidFill>
                  <a:srgbClr val="2E1B5B"/>
                </a:solidFill>
                <a:latin typeface="Calibri"/>
                <a:cs typeface="Calibri"/>
              </a:rPr>
              <a:t xml:space="preserve">cli: </a:t>
            </a:r>
            <a:r>
              <a:rPr lang="en-US" sz="1050" dirty="0">
                <a:solidFill>
                  <a:srgbClr val="2E1B5B"/>
                </a:solidFill>
                <a:latin typeface="Calibri"/>
                <a:cs typeface="Calibri"/>
              </a:rPr>
              <a:t xml:space="preserve">qudock benchmark | sweep | noise | hardware</a:t>
            </a:r>
          </a:p>
        </p:txBody>
      </p:sp>
      <p:sp>
        <p:nvSpPr>
          <p:cNvPr id="120" name="Stack heading"/>
          <p:cNvSpPr txBox="1"/>
          <p:nvPr/>
        </p:nvSpPr>
        <p:spPr>
          <a:xfrm>
            <a:off x="5120640" y="1828800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E8639F"/>
                </a:solidFill>
                <a:latin typeface="Calibri"/>
                <a:cs typeface="Calibri"/>
              </a:rPr>
              <a:t xml:space="preserve">TECH STACK</a:t>
            </a:r>
          </a:p>
        </p:txBody>
      </p:sp>
      <p:sp>
        <p:nvSpPr>
          <p:cNvPr id="121" name="Chip Qiskit 2.6"/>
          <p:cNvSpPr/>
          <p:nvPr/>
        </p:nvSpPr>
        <p:spPr>
          <a:xfrm>
            <a:off x="5120640" y="2148840"/>
            <a:ext cx="1051560" cy="384048"/>
          </a:xfrm>
          <a:prstGeom prst="roundRect">
            <a:avLst>
              <a:gd name="adj" fmla="val 8000"/>
            </a:avLst>
          </a:prstGeom>
          <a:solidFill>
            <a:srgbClr val="EEF0FD"/>
          </a:solidFill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000" b="1" dirty="0">
                <a:solidFill>
                  <a:srgbClr val="3F57C8"/>
                </a:solidFill>
                <a:latin typeface="Calibri"/>
                <a:cs typeface="Calibri"/>
              </a:rPr>
              <a:t xml:space="preserve">Qiskit 2.6</a:t>
            </a:r>
          </a:p>
        </p:txBody>
      </p:sp>
      <p:sp>
        <p:nvSpPr>
          <p:cNvPr id="122" name="Chip Qiskit Aer"/>
          <p:cNvSpPr/>
          <p:nvPr/>
        </p:nvSpPr>
        <p:spPr>
          <a:xfrm>
            <a:off x="6245352" y="2148840"/>
            <a:ext cx="1051560" cy="384048"/>
          </a:xfrm>
          <a:prstGeom prst="roundRect">
            <a:avLst>
              <a:gd name="adj" fmla="val 8000"/>
            </a:avLst>
          </a:prstGeom>
          <a:solidFill>
            <a:srgbClr val="EEF0FD"/>
          </a:solidFill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000" b="1" dirty="0">
                <a:solidFill>
                  <a:srgbClr val="3F57C8"/>
                </a:solidFill>
                <a:latin typeface="Calibri"/>
                <a:cs typeface="Calibri"/>
              </a:rPr>
              <a:t xml:space="preserve">Qiskit Aer</a:t>
            </a:r>
          </a:p>
        </p:txBody>
      </p:sp>
      <p:sp>
        <p:nvSpPr>
          <p:cNvPr id="123" name="Chip Qiskit IBM Runtime"/>
          <p:cNvSpPr/>
          <p:nvPr/>
        </p:nvSpPr>
        <p:spPr>
          <a:xfrm>
            <a:off x="7370064" y="2148840"/>
            <a:ext cx="1051560" cy="384048"/>
          </a:xfrm>
          <a:prstGeom prst="roundRect">
            <a:avLst>
              <a:gd name="adj" fmla="val 8000"/>
            </a:avLst>
          </a:prstGeom>
          <a:solidFill>
            <a:srgbClr val="EEF0FD"/>
          </a:solidFill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000" b="1" dirty="0">
                <a:solidFill>
                  <a:srgbClr val="3F57C8"/>
                </a:solidFill>
                <a:latin typeface="Calibri"/>
                <a:cs typeface="Calibri"/>
              </a:rPr>
              <a:t xml:space="preserve">Qiskit IBM Runtime</a:t>
            </a:r>
          </a:p>
        </p:txBody>
      </p:sp>
      <p:sp>
        <p:nvSpPr>
          <p:cNvPr id="124" name="Chip Qiskit ML"/>
          <p:cNvSpPr/>
          <p:nvPr/>
        </p:nvSpPr>
        <p:spPr>
          <a:xfrm>
            <a:off x="5120640" y="2606040"/>
            <a:ext cx="1051560" cy="384048"/>
          </a:xfrm>
          <a:prstGeom prst="roundRect">
            <a:avLst>
              <a:gd name="adj" fmla="val 8000"/>
            </a:avLst>
          </a:prstGeom>
          <a:solidFill>
            <a:srgbClr val="EEF0FD"/>
          </a:solidFill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000" b="1" dirty="0">
                <a:solidFill>
                  <a:srgbClr val="3F57C8"/>
                </a:solidFill>
                <a:latin typeface="Calibri"/>
                <a:cs typeface="Calibri"/>
              </a:rPr>
              <a:t xml:space="preserve">Qiskit ML</a:t>
            </a:r>
          </a:p>
        </p:txBody>
      </p:sp>
      <p:sp>
        <p:nvSpPr>
          <p:cNvPr id="125" name="Chip RDKit"/>
          <p:cNvSpPr/>
          <p:nvPr/>
        </p:nvSpPr>
        <p:spPr>
          <a:xfrm>
            <a:off x="6245352" y="2606040"/>
            <a:ext cx="1051560" cy="384048"/>
          </a:xfrm>
          <a:prstGeom prst="roundRect">
            <a:avLst>
              <a:gd name="adj" fmla="val 8000"/>
            </a:avLst>
          </a:prstGeom>
          <a:solidFill>
            <a:srgbClr val="EEF0FD"/>
          </a:solidFill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000" b="1" dirty="0">
                <a:solidFill>
                  <a:srgbClr val="E8639F"/>
                </a:solidFill>
                <a:latin typeface="Calibri"/>
                <a:cs typeface="Calibri"/>
              </a:rPr>
              <a:t xml:space="preserve">RDKit</a:t>
            </a:r>
          </a:p>
        </p:txBody>
      </p:sp>
      <p:sp>
        <p:nvSpPr>
          <p:cNvPr id="126" name="Chip scikit-learn"/>
          <p:cNvSpPr/>
          <p:nvPr/>
        </p:nvSpPr>
        <p:spPr>
          <a:xfrm>
            <a:off x="7370064" y="2606040"/>
            <a:ext cx="1051560" cy="384048"/>
          </a:xfrm>
          <a:prstGeom prst="roundRect">
            <a:avLst>
              <a:gd name="adj" fmla="val 8000"/>
            </a:avLst>
          </a:prstGeom>
          <a:solidFill>
            <a:srgbClr val="EEF0FD"/>
          </a:solidFill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000" b="1" dirty="0">
                <a:solidFill>
                  <a:srgbClr val="E8639F"/>
                </a:solidFill>
                <a:latin typeface="Calibri"/>
                <a:cs typeface="Calibri"/>
              </a:rPr>
              <a:t xml:space="preserve">scikit-learn</a:t>
            </a:r>
          </a:p>
        </p:txBody>
      </p:sp>
      <p:sp>
        <p:nvSpPr>
          <p:cNvPr id="127" name="Chip NumPy / pandas"/>
          <p:cNvSpPr/>
          <p:nvPr/>
        </p:nvSpPr>
        <p:spPr>
          <a:xfrm>
            <a:off x="5120640" y="3063240"/>
            <a:ext cx="1051560" cy="384048"/>
          </a:xfrm>
          <a:prstGeom prst="roundRect">
            <a:avLst>
              <a:gd name="adj" fmla="val 8000"/>
            </a:avLst>
          </a:prstGeom>
          <a:solidFill>
            <a:srgbClr val="EEF0FD"/>
          </a:solidFill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000" b="1" dirty="0">
                <a:solidFill>
                  <a:srgbClr val="E8639F"/>
                </a:solidFill>
                <a:latin typeface="Calibri"/>
                <a:cs typeface="Calibri"/>
              </a:rPr>
              <a:t xml:space="preserve">NumPy / pandas</a:t>
            </a:r>
          </a:p>
        </p:txBody>
      </p:sp>
      <p:sp>
        <p:nvSpPr>
          <p:cNvPr id="128" name="Chip Matplotlib"/>
          <p:cNvSpPr/>
          <p:nvPr/>
        </p:nvSpPr>
        <p:spPr>
          <a:xfrm>
            <a:off x="6245352" y="3063240"/>
            <a:ext cx="1051560" cy="384048"/>
          </a:xfrm>
          <a:prstGeom prst="roundRect">
            <a:avLst>
              <a:gd name="adj" fmla="val 8000"/>
            </a:avLst>
          </a:prstGeom>
          <a:solidFill>
            <a:srgbClr val="EEF0FD"/>
          </a:solidFill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000" b="1" dirty="0">
                <a:solidFill>
                  <a:srgbClr val="E8639F"/>
                </a:solidFill>
                <a:latin typeface="Calibri"/>
                <a:cs typeface="Calibri"/>
              </a:rPr>
              <a:t xml:space="preserve">Matplotlib</a:t>
            </a:r>
          </a:p>
        </p:txBody>
      </p:sp>
      <p:sp>
        <p:nvSpPr>
          <p:cNvPr id="129" name="Chip pytest + ruff"/>
          <p:cNvSpPr/>
          <p:nvPr/>
        </p:nvSpPr>
        <p:spPr>
          <a:xfrm>
            <a:off x="7370064" y="3063240"/>
            <a:ext cx="1051560" cy="384048"/>
          </a:xfrm>
          <a:prstGeom prst="roundRect">
            <a:avLst>
              <a:gd name="adj" fmla="val 8000"/>
            </a:avLst>
          </a:prstGeom>
          <a:solidFill>
            <a:srgbClr val="EEF0FD"/>
          </a:solidFill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000" b="1" dirty="0">
                <a:solidFill>
                  <a:srgbClr val="5B3BA8"/>
                </a:solidFill>
                <a:latin typeface="Calibri"/>
                <a:cs typeface="Calibri"/>
              </a:rPr>
              <a:t xml:space="preserve">pytest + ruff</a:t>
            </a:r>
          </a:p>
        </p:txBody>
      </p:sp>
      <p:sp>
        <p:nvSpPr>
          <p:cNvPr id="130" name="Chip GitHub Actions CI"/>
          <p:cNvSpPr/>
          <p:nvPr/>
        </p:nvSpPr>
        <p:spPr>
          <a:xfrm>
            <a:off x="5120640" y="3520440"/>
            <a:ext cx="1051560" cy="384048"/>
          </a:xfrm>
          <a:prstGeom prst="roundRect">
            <a:avLst>
              <a:gd name="adj" fmla="val 8000"/>
            </a:avLst>
          </a:prstGeom>
          <a:solidFill>
            <a:srgbClr val="EEF0FD"/>
          </a:solidFill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000" b="1" dirty="0">
                <a:solidFill>
                  <a:srgbClr val="5B3BA8"/>
                </a:solidFill>
                <a:latin typeface="Calibri"/>
                <a:cs typeface="Calibri"/>
              </a:rPr>
              <a:t xml:space="preserve">GitHub Actions CI</a:t>
            </a:r>
          </a:p>
        </p:txBody>
      </p:sp>
      <p:sp>
        <p:nvSpPr>
          <p:cNvPr id="131" name="Chip Docker"/>
          <p:cNvSpPr/>
          <p:nvPr/>
        </p:nvSpPr>
        <p:spPr>
          <a:xfrm>
            <a:off x="6245352" y="3520440"/>
            <a:ext cx="1051560" cy="384048"/>
          </a:xfrm>
          <a:prstGeom prst="roundRect">
            <a:avLst>
              <a:gd name="adj" fmla="val 8000"/>
            </a:avLst>
          </a:prstGeom>
          <a:solidFill>
            <a:srgbClr val="EEF0FD"/>
          </a:solidFill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000" b="1" dirty="0">
                <a:solidFill>
                  <a:srgbClr val="5B3BA8"/>
                </a:solidFill>
                <a:latin typeface="Calibri"/>
                <a:cs typeface="Calibri"/>
              </a:rPr>
              <a:t xml:space="preserve">Docker</a:t>
            </a:r>
          </a:p>
        </p:txBody>
      </p:sp>
      <p:sp>
        <p:nvSpPr>
          <p:cNvPr id="132" name="Chip JupyterLab"/>
          <p:cNvSpPr/>
          <p:nvPr/>
        </p:nvSpPr>
        <p:spPr>
          <a:xfrm>
            <a:off x="7370064" y="3520440"/>
            <a:ext cx="1051560" cy="384048"/>
          </a:xfrm>
          <a:prstGeom prst="roundRect">
            <a:avLst>
              <a:gd name="adj" fmla="val 8000"/>
            </a:avLst>
          </a:prstGeom>
          <a:solidFill>
            <a:srgbClr val="EEF0FD"/>
          </a:solidFill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000" b="1" dirty="0">
                <a:solidFill>
                  <a:srgbClr val="5B3BA8"/>
                </a:solidFill>
                <a:latin typeface="Calibri"/>
                <a:cs typeface="Calibri"/>
              </a:rPr>
              <a:t xml:space="preserve">JupyterLab</a:t>
            </a:r>
          </a:p>
        </p:txBody>
      </p:sp>
      <p:sp>
        <p:nvSpPr>
          <p:cNvPr id="133" name="Stack note"/>
          <p:cNvSpPr txBox="1"/>
          <p:nvPr/>
        </p:nvSpPr>
        <p:spPr>
          <a:xfrm>
            <a:off x="5120640" y="3977640"/>
            <a:ext cx="329184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000" i="1" dirty="0">
                <a:solidFill>
                  <a:srgbClr val="6F7399"/>
                </a:solidFill>
                <a:latin typeface="Calibri"/>
                <a:cs typeface="Calibri"/>
              </a:rPr>
              <a:t xml:space="preserve">Pinned versions, unit tests and CI on every push. Runs on a laptop; hardware run on IBM Quantum open plan.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6460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anchor="ctr"/>
          <a:lstStyle>
            <a:lvl1pPr>
              <a:defRPr sz="900">
                <a:solidFill>
                  <a:srgbClr val="2E1B5B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4"/>
          <p:cNvSpPr>
            <a:spLocks noGrp="1"/>
          </p:cNvSpPr>
          <p:nvPr>
            <p:ph type="title" idx="120" hasCustomPrompt="1"/>
          </p:nvPr>
        </p:nvSpPr>
        <p:spPr>
          <a:xfrm>
            <a:off x="457200" y="841248"/>
            <a:ext cx="6309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E1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Results: Quantum vs Classical</a:t>
            </a:r>
            <a:endParaRPr lang="en-US" sz="2600" dirty="0"/>
          </a:p>
        </p:txBody>
      </p:sp>
      <p:sp>
        <p:nvSpPr>
          <p:cNvPr id="3" name="Title accent"/>
          <p:cNvSpPr/>
          <p:nvPr/>
        </p:nvSpPr>
        <p:spPr>
          <a:xfrm>
            <a:off x="457200" y="1463040"/>
            <a:ext cx="256032" cy="45720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</p:sp>
      <p:sp>
        <p:nvSpPr>
          <p:cNvPr id="4" name="Title accent"/>
          <p:cNvSpPr/>
          <p:nvPr/>
        </p:nvSpPr>
        <p:spPr>
          <a:xfrm>
            <a:off x="731520" y="1463040"/>
            <a:ext cx="256032" cy="45720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</p:sp>
      <p:sp>
        <p:nvSpPr>
          <p:cNvPr id="5" name="Title accent"/>
          <p:cNvSpPr/>
          <p:nvPr/>
        </p:nvSpPr>
        <p:spPr>
          <a:xfrm>
            <a:off x="1005840" y="1463040"/>
            <a:ext cx="256032" cy="45720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prstDash val="solid"/>
          </a:ln>
        </p:spPr>
      </p:sp>
      <p:sp>
        <p:nvSpPr>
          <p:cNvPr id="6" name="Insert area"/>
          <p:cNvSpPr/>
          <p:nvPr/>
        </p:nvSpPr>
        <p:spPr>
          <a:xfrm>
            <a:off x="457200" y="1691640"/>
            <a:ext cx="4937760" cy="2926080"/>
          </a:xfrm>
          <a:prstGeom prst="roundRect">
            <a:avLst>
              <a:gd name="adj" fmla="val 2500"/>
            </a:avLst>
          </a:prstGeom>
          <a:solidFill>
            <a:srgbClr val="EEF0FE"/>
          </a:solidFill>
          <a:ln w="15875">
            <a:solidFill>
              <a:srgbClr val="7C93F0"/>
            </a:solidFill>
            <a:prstDash val="dash"/>
          </a:ln>
        </p:spPr>
      </p:sp>
      <p:pic>
        <p:nvPicPr>
          <p:cNvPr id="134" name="Learning curve: test ROC-AUC vs training molecules" descr="Learning curve: test ROC-AUC vs training molecule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658" y="1801368"/>
            <a:ext cx="4046220" cy="2697480"/>
          </a:xfrm>
          <a:prstGeom prst="rect">
            <a:avLst/>
          </a:prstGeom>
        </p:spPr>
      </p:pic>
      <p:sp>
        <p:nvSpPr>
          <p:cNvPr id="8" name="Content card"/>
          <p:cNvSpPr/>
          <p:nvPr/>
        </p:nvSpPr>
        <p:spPr>
          <a:xfrm>
            <a:off x="5577840" y="1691640"/>
            <a:ext cx="310896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B8BDEB"/>
            </a:solidFill>
            <a:prstDash val="solid"/>
          </a:ln>
        </p:spPr>
      </p:sp>
      <p:sp>
        <p:nvSpPr>
          <p:cNvPr id="9" name="Card accent"/>
          <p:cNvSpPr/>
          <p:nvPr/>
        </p:nvSpPr>
        <p:spPr>
          <a:xfrm>
            <a:off x="5806440" y="1691640"/>
            <a:ext cx="822960" cy="54864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prstDash val="solid"/>
          </a:ln>
        </p:spPr>
      </p:sp>
      <p:sp>
        <p:nvSpPr>
          <p:cNvPr id="135" name="Key details"/>
          <p:cNvSpPr txBox="1"/>
          <p:nvPr/>
        </p:nvSpPr>
        <p:spPr>
          <a:xfrm>
            <a:off x="5760720" y="1810512"/>
            <a:ext cx="2743200" cy="2697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marL="171450" indent="-171450" algn="l">
              <a:spcAft>
                <a:spcPts val="300"/>
              </a:spcAft>
              <a:buClr>
                <a:srgbClr val="5B3BA8"/>
              </a:buClr>
              <a:buFont typeface="Arial"/>
              <a:buChar char="•"/>
            </a:pPr>
            <a:r>
              <a:rPr lang="en-US" sz="1050" b="1" dirty="0">
                <a:solidFill>
                  <a:srgbClr val="2E1B5B"/>
                </a:solidFill>
                <a:latin typeface="Calibri"/>
                <a:cs typeface="Calibri"/>
              </a:rPr>
              <a:t xml:space="preserve">Sample efficiency (6 qubits, 5 seeds): </a:t>
            </a:r>
            <a:r>
              <a:rPr lang="en-US" sz="1050" dirty="0">
                <a:solidFill>
                  <a:srgbClr val="2E1B5B"/>
                </a:solidFill>
                <a:latin typeface="Calibri"/>
                <a:cs typeface="Calibri"/>
              </a:rPr>
              <a:t xml:space="preserve">at 1,210 molecules QSVC 0.687 ROC-AUC vs Random Forest 0.740.</a:t>
            </a:r>
          </a:p>
          <a:p>
            <a:pPr marL="171450" indent="-171450" algn="l">
              <a:spcAft>
                <a:spcPts val="300"/>
              </a:spcAft>
              <a:buClr>
                <a:srgbClr val="5B3BA8"/>
              </a:buClr>
              <a:buFont typeface="Arial"/>
              <a:buChar char="•"/>
            </a:pPr>
            <a:r>
              <a:rPr lang="en-US" sz="1050" b="1" dirty="0">
                <a:solidFill>
                  <a:srgbClr val="2E1B5B"/>
                </a:solidFill>
                <a:latin typeface="Calibri"/>
                <a:cs typeface="Calibri"/>
              </a:rPr>
              <a:t xml:space="preserve">No small-data edge: </a:t>
            </a:r>
            <a:r>
              <a:rPr lang="en-US" sz="1050" dirty="0">
                <a:solidFill>
                  <a:srgbClr val="2E1B5B"/>
                </a:solidFill>
                <a:latin typeface="Calibri"/>
                <a:cs typeface="Calibri"/>
              </a:rPr>
              <a:t xml:space="preserve">with 25 to 50 molecules QSVC is the weakest model (0.59).</a:t>
            </a:r>
          </a:p>
          <a:p>
            <a:pPr marL="171450" indent="-171450" algn="l">
              <a:spcAft>
                <a:spcPts val="300"/>
              </a:spcAft>
              <a:buClr>
                <a:srgbClr val="5B3BA8"/>
              </a:buClr>
              <a:buFont typeface="Arial"/>
              <a:buChar char="•"/>
            </a:pPr>
            <a:r>
              <a:rPr lang="en-US" sz="1050" b="1" dirty="0">
                <a:solidFill>
                  <a:srgbClr val="2E1B5B"/>
                </a:solidFill>
                <a:latin typeface="Calibri"/>
                <a:cs typeface="Calibri"/>
              </a:rPr>
              <a:t xml:space="preserve">Qubit sweep: </a:t>
            </a:r>
            <a:r>
              <a:rPr lang="en-US" sz="1050" dirty="0">
                <a:solidFill>
                  <a:srgbClr val="2E1B5B"/>
                </a:solidFill>
                <a:latin typeface="Calibri"/>
                <a:cs typeface="Calibri"/>
              </a:rPr>
              <a:t xml:space="preserve">QSVC best at 8 qubits (0.719), above SVM-RBF (0.705), below RF (0.729).</a:t>
            </a:r>
          </a:p>
          <a:p>
            <a:pPr marL="171450" indent="-171450" algn="l">
              <a:spcAft>
                <a:spcPts val="300"/>
              </a:spcAft>
              <a:buClr>
                <a:srgbClr val="5B3BA8"/>
              </a:buClr>
              <a:buFont typeface="Arial"/>
              <a:buChar char="•"/>
            </a:pPr>
            <a:r>
              <a:rPr lang="en-US" sz="1050" b="1" dirty="0">
                <a:solidFill>
                  <a:srgbClr val="2E1B5B"/>
                </a:solidFill>
                <a:latin typeface="Calibri"/>
                <a:cs typeface="Calibri"/>
              </a:rPr>
              <a:t xml:space="preserve">Concentration: </a:t>
            </a:r>
            <a:r>
              <a:rPr lang="en-US" sz="1050" dirty="0">
                <a:solidFill>
                  <a:srgbClr val="2E1B5B"/>
                </a:solidFill>
                <a:latin typeface="Calibri"/>
                <a:cs typeface="Calibri"/>
              </a:rPr>
              <a:t xml:space="preserve">kernel variance falls from 0.075 (2 qubits) to 0.005 (10 qubits).</a:t>
            </a:r>
          </a:p>
          <a:p>
            <a:pPr marL="171450" indent="-171450" algn="l">
              <a:spcAft>
                <a:spcPts val="300"/>
              </a:spcAft>
              <a:buClr>
                <a:srgbClr val="5B3BA8"/>
              </a:buClr>
              <a:buFont typeface="Arial"/>
              <a:buChar char="•"/>
            </a:pPr>
            <a:r>
              <a:rPr lang="en-US" sz="1050" b="1" dirty="0">
                <a:solidFill>
                  <a:srgbClr val="2E1B5B"/>
                </a:solidFill>
                <a:latin typeface="Calibri"/>
                <a:cs typeface="Calibri"/>
              </a:rPr>
              <a:t xml:space="preserve">Verdict: </a:t>
            </a:r>
            <a:r>
              <a:rPr lang="en-US" sz="1050" dirty="0">
                <a:solidFill>
                  <a:srgbClr val="2E1B5B"/>
                </a:solidFill>
                <a:latin typeface="Calibri"/>
                <a:cs typeface="Calibri"/>
              </a:rPr>
              <a:t xml:space="preserve">competitive with RBF SVM, not better than RF; gaps not significant (p ≥ 0.06).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6460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anchor="ctr"/>
          <a:lstStyle>
            <a:lvl1pPr>
              <a:defRPr sz="900">
                <a:solidFill>
                  <a:srgbClr val="2E1B5B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4"/>
          <p:cNvSpPr>
            <a:spLocks noGrp="1"/>
          </p:cNvSpPr>
          <p:nvPr>
            <p:ph type="title" idx="120" hasCustomPrompt="1"/>
          </p:nvPr>
        </p:nvSpPr>
        <p:spPr>
          <a:xfrm>
            <a:off x="457200" y="841248"/>
            <a:ext cx="6309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E1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Impact &amp; Real-World Applications</a:t>
            </a:r>
            <a:endParaRPr lang="en-US" sz="2600" dirty="0"/>
          </a:p>
        </p:txBody>
      </p:sp>
      <p:sp>
        <p:nvSpPr>
          <p:cNvPr id="3" name="Title accent"/>
          <p:cNvSpPr/>
          <p:nvPr/>
        </p:nvSpPr>
        <p:spPr>
          <a:xfrm>
            <a:off x="457200" y="1463040"/>
            <a:ext cx="256032" cy="45720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</p:sp>
      <p:sp>
        <p:nvSpPr>
          <p:cNvPr id="4" name="Title accent"/>
          <p:cNvSpPr/>
          <p:nvPr/>
        </p:nvSpPr>
        <p:spPr>
          <a:xfrm>
            <a:off x="731520" y="1463040"/>
            <a:ext cx="256032" cy="45720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</p:sp>
      <p:sp>
        <p:nvSpPr>
          <p:cNvPr id="5" name="Title accent"/>
          <p:cNvSpPr/>
          <p:nvPr/>
        </p:nvSpPr>
        <p:spPr>
          <a:xfrm>
            <a:off x="1005840" y="1463040"/>
            <a:ext cx="256032" cy="45720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prstDash val="solid"/>
          </a:ln>
        </p:spPr>
      </p:sp>
      <p:sp>
        <p:nvSpPr>
          <p:cNvPr id="6" name="Content card"/>
          <p:cNvSpPr/>
          <p:nvPr/>
        </p:nvSpPr>
        <p:spPr>
          <a:xfrm>
            <a:off x="457200" y="1691640"/>
            <a:ext cx="822960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B8BDEB"/>
            </a:solidFill>
            <a:prstDash val="solid"/>
          </a:ln>
        </p:spPr>
      </p:sp>
      <p:sp>
        <p:nvSpPr>
          <p:cNvPr id="7" name="Card accent"/>
          <p:cNvSpPr/>
          <p:nvPr/>
        </p:nvSpPr>
        <p:spPr>
          <a:xfrm>
            <a:off x="685800" y="1691640"/>
            <a:ext cx="822960" cy="54864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</p:sp>
      <p:sp>
        <p:nvSpPr>
          <p:cNvPr id="139" name="Impact Drug discovery"/>
          <p:cNvSpPr/>
          <p:nvPr/>
        </p:nvSpPr>
        <p:spPr>
          <a:xfrm>
            <a:off x="685800" y="1828800"/>
            <a:ext cx="2514600" cy="2103120"/>
          </a:xfrm>
          <a:prstGeom prst="roundRect">
            <a:avLst>
              <a:gd name="adj" fmla="val 8000"/>
            </a:avLst>
          </a:prstGeom>
          <a:solidFill>
            <a:srgbClr val="EEF0FD"/>
          </a:solidFill>
          <a:ln>
            <a:noFill/>
          </a:ln>
        </p:spPr>
        <p:txBody>
          <a:bodyPr wrap="square" lIns="128016" tIns="128016" rIns="128016" bIns="128016" rtlCol="0" anchor="t">
            <a:normAutofit/>
          </a:bodyPr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3F57C8"/>
                </a:solidFill>
                <a:latin typeface="Georgia"/>
                <a:cs typeface="Georgia"/>
              </a:rPr>
              <a:t xml:space="preserve">Drug discovery</a:t>
            </a:r>
          </a:p>
          <a:p>
            <a:pPr marL="171450" indent="-171450" algn="l">
              <a:spcAft>
                <a:spcPts val="500"/>
              </a:spcAft>
              <a:buClr>
                <a:srgbClr val="3F57C8"/>
              </a:buClr>
              <a:buFont typeface="Arial"/>
              <a:buChar char="•"/>
            </a:pPr>
            <a:r>
              <a:rPr lang="en-US" sz="1100" dirty="0">
                <a:solidFill>
                  <a:srgbClr val="2E1B5B"/>
                </a:solidFill>
                <a:latin typeface="Calibri"/>
                <a:cs typeface="Calibri"/>
              </a:rPr>
              <a:t xml:space="preserve">Shows when quantum ML is worth trying for virtual screening, and when a Random Forest is still the better tool.</a:t>
            </a:r>
          </a:p>
          <a:p>
            <a:pPr marL="171450" indent="-171450" algn="l">
              <a:spcAft>
                <a:spcPts val="500"/>
              </a:spcAft>
              <a:buClr>
                <a:srgbClr val="3F57C8"/>
              </a:buClr>
              <a:buFont typeface="Arial"/>
              <a:buChar char="•"/>
            </a:pPr>
            <a:r>
              <a:rPr lang="en-US" sz="1100" dirty="0">
                <a:solidFill>
                  <a:srgbClr val="2E1B5B"/>
                </a:solidFill>
                <a:latin typeface="Calibri"/>
                <a:cs typeface="Calibri"/>
              </a:rPr>
              <a:t xml:space="preserve">Works for any target with SMILES and activity labels.</a:t>
            </a:r>
          </a:p>
        </p:txBody>
      </p:sp>
      <p:sp>
        <p:nvSpPr>
          <p:cNvPr id="140" name="Impact Quantum ML research"/>
          <p:cNvSpPr/>
          <p:nvPr/>
        </p:nvSpPr>
        <p:spPr>
          <a:xfrm>
            <a:off x="3310128" y="1828800"/>
            <a:ext cx="2514600" cy="2103120"/>
          </a:xfrm>
          <a:prstGeom prst="roundRect">
            <a:avLst>
              <a:gd name="adj" fmla="val 8000"/>
            </a:avLst>
          </a:prstGeom>
          <a:solidFill>
            <a:srgbClr val="EEF0FD"/>
          </a:solidFill>
          <a:ln>
            <a:noFill/>
          </a:ln>
        </p:spPr>
        <p:txBody>
          <a:bodyPr wrap="square" lIns="128016" tIns="128016" rIns="128016" bIns="128016" rtlCol="0" anchor="t">
            <a:normAutofit/>
          </a:bodyPr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E8639F"/>
                </a:solidFill>
                <a:latin typeface="Georgia"/>
                <a:cs typeface="Georgia"/>
              </a:rPr>
              <a:t xml:space="preserve">Quantum ML research</a:t>
            </a:r>
          </a:p>
          <a:p>
            <a:pPr marL="171450" indent="-171450" algn="l">
              <a:spcAft>
                <a:spcPts val="500"/>
              </a:spcAft>
              <a:buClr>
                <a:srgbClr val="E8639F"/>
              </a:buClr>
              <a:buFont typeface="Arial"/>
              <a:buChar char="•"/>
            </a:pPr>
            <a:r>
              <a:rPr lang="en-US" sz="1100" dirty="0">
                <a:solidFill>
                  <a:srgbClr val="2E1B5B"/>
                </a:solidFill>
                <a:latin typeface="Calibri"/>
                <a:cs typeface="Calibri"/>
              </a:rPr>
              <a:t xml:space="preserve">A fair benchmark template: same features, scaffold split, seeds, significance tests.</a:t>
            </a:r>
          </a:p>
          <a:p>
            <a:pPr marL="171450" indent="-171450" algn="l">
              <a:spcAft>
                <a:spcPts val="500"/>
              </a:spcAft>
              <a:buClr>
                <a:srgbClr val="E8639F"/>
              </a:buClr>
              <a:buFont typeface="Arial"/>
              <a:buChar char="•"/>
            </a:pPr>
            <a:r>
              <a:rPr lang="en-US" sz="1100" dirty="0">
                <a:solidFill>
                  <a:srgbClr val="2E1B5B"/>
                </a:solidFill>
                <a:latin typeface="Calibri"/>
                <a:cs typeface="Calibri"/>
              </a:rPr>
              <a:t xml:space="preserve">Real-hardware evidence that kernel rankings survive noise.</a:t>
            </a:r>
          </a:p>
        </p:txBody>
      </p:sp>
      <p:sp>
        <p:nvSpPr>
          <p:cNvPr id="141" name="Impact Open science"/>
          <p:cNvSpPr/>
          <p:nvPr/>
        </p:nvSpPr>
        <p:spPr>
          <a:xfrm>
            <a:off x="5934456" y="1828800"/>
            <a:ext cx="2514600" cy="2103120"/>
          </a:xfrm>
          <a:prstGeom prst="roundRect">
            <a:avLst>
              <a:gd name="adj" fmla="val 8000"/>
            </a:avLst>
          </a:prstGeom>
          <a:solidFill>
            <a:srgbClr val="EEF0FD"/>
          </a:solidFill>
          <a:ln>
            <a:noFill/>
          </a:ln>
        </p:spPr>
        <p:txBody>
          <a:bodyPr wrap="square" lIns="128016" tIns="128016" rIns="128016" bIns="128016" rtlCol="0" anchor="t">
            <a:normAutofit/>
          </a:bodyPr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5B3BA8"/>
                </a:solidFill>
                <a:latin typeface="Georgia"/>
                <a:cs typeface="Georgia"/>
              </a:rPr>
              <a:t xml:space="preserve">Open science</a:t>
            </a:r>
          </a:p>
          <a:p>
            <a:pPr marL="171450" indent="-171450" algn="l">
              <a:spcAft>
                <a:spcPts val="500"/>
              </a:spcAft>
              <a:buClr>
                <a:srgbClr val="5B3BA8"/>
              </a:buClr>
              <a:buFont typeface="Arial"/>
              <a:buChar char="•"/>
            </a:pPr>
            <a:r>
              <a:rPr lang="en-US" sz="1100" dirty="0">
                <a:solidFill>
                  <a:srgbClr val="2E1B5B"/>
                </a:solidFill>
                <a:latin typeface="Calibri"/>
                <a:cs typeface="Calibri"/>
              </a:rPr>
              <a:t xml:space="preserve">All code, results and a demo notebook are public.</a:t>
            </a:r>
          </a:p>
          <a:p>
            <a:pPr marL="171450" indent="-171450" algn="l">
              <a:spcAft>
                <a:spcPts val="500"/>
              </a:spcAft>
              <a:buClr>
                <a:srgbClr val="5B3BA8"/>
              </a:buClr>
              <a:buFont typeface="Arial"/>
              <a:buChar char="•"/>
            </a:pPr>
            <a:r>
              <a:rPr lang="en-US" sz="1100" dirty="0">
                <a:solidFill>
                  <a:srgbClr val="2E1B5B"/>
                </a:solidFill>
                <a:latin typeface="Calibri"/>
                <a:cs typeface="Calibri"/>
              </a:rPr>
              <a:t xml:space="preserve">Runs on a laptop in minutes; the hardware run fits in 20 s of free IBM time.</a:t>
            </a:r>
          </a:p>
        </p:txBody>
      </p:sp>
      <p:sp>
        <p:nvSpPr>
          <p:cNvPr id="142" name="Impact note"/>
          <p:cNvSpPr txBox="1"/>
          <p:nvPr/>
        </p:nvSpPr>
        <p:spPr>
          <a:xfrm>
            <a:off x="685800" y="4069080"/>
            <a:ext cx="777240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100" i="1" dirty="0">
                <a:solidFill>
                  <a:srgbClr val="5B3BA8"/>
                </a:solidFill>
                <a:latin typeface="Calibri"/>
                <a:cs typeface="Calibri"/>
              </a:rPr>
              <a:t xml:space="preserve">An honest negative result is useful: it tells researchers where quantum kernels need to improve before they help real drug pipelines.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6460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anchor="ctr"/>
          <a:lstStyle>
            <a:lvl1pPr>
              <a:defRPr sz="900">
                <a:solidFill>
                  <a:srgbClr val="2E1B5B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4"/>
          <p:cNvSpPr>
            <a:spLocks noGrp="1"/>
          </p:cNvSpPr>
          <p:nvPr>
            <p:ph type="title" idx="120" hasCustomPrompt="1"/>
          </p:nvPr>
        </p:nvSpPr>
        <p:spPr>
          <a:xfrm>
            <a:off x="457200" y="841248"/>
            <a:ext cx="6309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E1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Challenges &amp; Future Scope</a:t>
            </a:r>
            <a:endParaRPr lang="en-US" sz="2600" dirty="0"/>
          </a:p>
        </p:txBody>
      </p:sp>
      <p:sp>
        <p:nvSpPr>
          <p:cNvPr id="3" name="Title accent"/>
          <p:cNvSpPr/>
          <p:nvPr/>
        </p:nvSpPr>
        <p:spPr>
          <a:xfrm>
            <a:off x="457200" y="1463040"/>
            <a:ext cx="256032" cy="45720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</p:sp>
      <p:sp>
        <p:nvSpPr>
          <p:cNvPr id="4" name="Title accent"/>
          <p:cNvSpPr/>
          <p:nvPr/>
        </p:nvSpPr>
        <p:spPr>
          <a:xfrm>
            <a:off x="731520" y="1463040"/>
            <a:ext cx="256032" cy="45720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</p:sp>
      <p:sp>
        <p:nvSpPr>
          <p:cNvPr id="5" name="Title accent"/>
          <p:cNvSpPr/>
          <p:nvPr/>
        </p:nvSpPr>
        <p:spPr>
          <a:xfrm>
            <a:off x="1005840" y="1463040"/>
            <a:ext cx="256032" cy="45720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prstDash val="solid"/>
          </a:ln>
        </p:spPr>
      </p:sp>
      <p:sp>
        <p:nvSpPr>
          <p:cNvPr id="6" name="Content card"/>
          <p:cNvSpPr/>
          <p:nvPr/>
        </p:nvSpPr>
        <p:spPr>
          <a:xfrm>
            <a:off x="457200" y="1691640"/>
            <a:ext cx="822960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B8BDEB"/>
            </a:solidFill>
            <a:prstDash val="solid"/>
          </a:ln>
        </p:spPr>
      </p:sp>
      <p:sp>
        <p:nvSpPr>
          <p:cNvPr id="7" name="Card accent"/>
          <p:cNvSpPr/>
          <p:nvPr/>
        </p:nvSpPr>
        <p:spPr>
          <a:xfrm>
            <a:off x="685800" y="1691640"/>
            <a:ext cx="822960" cy="54864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</p:sp>
      <p:sp>
        <p:nvSpPr>
          <p:cNvPr id="143" name="Challenges"/>
          <p:cNvSpPr txBox="1"/>
          <p:nvPr/>
        </p:nvSpPr>
        <p:spPr>
          <a:xfrm>
            <a:off x="685800" y="1828800"/>
            <a:ext cx="4023360" cy="2697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5B3BA8"/>
                </a:solidFill>
                <a:latin typeface="Calibri"/>
                <a:cs typeface="Calibri"/>
              </a:rPr>
              <a:t xml:space="preserve">CHALLENGES WE HIT</a:t>
            </a:r>
          </a:p>
          <a:p>
            <a:pPr marL="171450" indent="-171450" algn="l">
              <a:spcAft>
                <a:spcPts val="400"/>
              </a:spcAft>
              <a:buClr>
                <a:srgbClr val="5B3BA8"/>
              </a:buClr>
              <a:buFont typeface="Arial"/>
              <a:buChar char="•"/>
            </a:pPr>
            <a:r>
              <a:rPr lang="en-US" sz="1050" b="1" dirty="0">
                <a:solidFill>
                  <a:srgbClr val="2E1B5B"/>
                </a:solidFill>
                <a:latin typeface="Calibri"/>
                <a:cs typeface="Calibri"/>
              </a:rPr>
              <a:t xml:space="preserve">Crashes on Linux: </a:t>
            </a:r>
            <a:r>
              <a:rPr lang="en-US" sz="1050" dirty="0">
                <a:solidFill>
                  <a:srgbClr val="2E1B5B"/>
                </a:solidFill>
                <a:latin typeface="Calibri"/>
                <a:cs typeface="Calibri"/>
              </a:rPr>
              <a:t xml:space="preserve">Qiskit Aer and the Rust transpiler ran out of TLS and stack; fixed with GLIBC_TUNABLES and RUST_MIN_STACK in CI and Docker.</a:t>
            </a:r>
          </a:p>
          <a:p>
            <a:pPr marL="171450" indent="-171450" algn="l">
              <a:spcAft>
                <a:spcPts val="400"/>
              </a:spcAft>
              <a:buClr>
                <a:srgbClr val="5B3BA8"/>
              </a:buClr>
              <a:buFont typeface="Arial"/>
              <a:buChar char="•"/>
            </a:pPr>
            <a:r>
              <a:rPr lang="en-US" sz="1050" b="1" dirty="0">
                <a:solidFill>
                  <a:srgbClr val="2E1B5B"/>
                </a:solidFill>
                <a:latin typeface="Calibri"/>
                <a:cs typeface="Calibri"/>
              </a:rPr>
              <a:t xml:space="preserve">Wrong noise numbers: </a:t>
            </a:r>
            <a:r>
              <a:rPr lang="en-US" sz="1050" dirty="0">
                <a:solidFill>
                  <a:srgbClr val="2E1B5B"/>
                </a:solidFill>
                <a:latin typeface="Calibri"/>
                <a:cs typeface="Calibri"/>
              </a:rPr>
              <a:t xml:space="preserve">our first study used a poor qubit layout (25 to 28% error); the real device exposed it, and a corrected run gives 8 to 13%.</a:t>
            </a:r>
          </a:p>
          <a:p>
            <a:pPr marL="171450" indent="-171450" algn="l">
              <a:spcAft>
                <a:spcPts val="400"/>
              </a:spcAft>
              <a:buClr>
                <a:srgbClr val="5B3BA8"/>
              </a:buClr>
              <a:buFont typeface="Arial"/>
              <a:buChar char="•"/>
            </a:pPr>
            <a:r>
              <a:rPr lang="en-US" sz="1050" b="1" dirty="0">
                <a:solidFill>
                  <a:srgbClr val="2E1B5B"/>
                </a:solidFill>
                <a:latin typeface="Calibri"/>
                <a:cs typeface="Calibri"/>
              </a:rPr>
              <a:t xml:space="preserve">Limited quantum time: </a:t>
            </a:r>
            <a:r>
              <a:rPr lang="en-US" sz="1050" dirty="0">
                <a:solidFill>
                  <a:srgbClr val="2E1B5B"/>
                </a:solidFill>
                <a:latin typeface="Calibri"/>
                <a:cs typeface="Calibri"/>
              </a:rPr>
              <a:t xml:space="preserve">free plan minutes, so the hardware run uses 12 molecules in one job.</a:t>
            </a:r>
          </a:p>
          <a:p>
            <a:pPr marL="171450" indent="-171450" algn="l">
              <a:spcAft>
                <a:spcPts val="400"/>
              </a:spcAft>
              <a:buClr>
                <a:srgbClr val="5B3BA8"/>
              </a:buClr>
              <a:buFont typeface="Arial"/>
              <a:buChar char="•"/>
            </a:pPr>
            <a:r>
              <a:rPr lang="en-US" sz="1050" b="1" dirty="0">
                <a:solidFill>
                  <a:srgbClr val="2E1B5B"/>
                </a:solidFill>
                <a:latin typeface="Calibri"/>
                <a:cs typeface="Calibri"/>
              </a:rPr>
              <a:t xml:space="preserve">Kernel concentration: </a:t>
            </a:r>
            <a:r>
              <a:rPr lang="en-US" sz="1050" dirty="0">
                <a:solidFill>
                  <a:srgbClr val="2E1B5B"/>
                </a:solidFill>
                <a:latin typeface="Calibri"/>
                <a:cs typeface="Calibri"/>
              </a:rPr>
              <a:t xml:space="preserve">values bunch together as qubits grow.</a:t>
            </a:r>
          </a:p>
        </p:txBody>
      </p:sp>
      <p:sp>
        <p:nvSpPr>
          <p:cNvPr id="144" name="Future"/>
          <p:cNvSpPr txBox="1"/>
          <p:nvPr/>
        </p:nvSpPr>
        <p:spPr>
          <a:xfrm>
            <a:off x="4892040" y="1828800"/>
            <a:ext cx="3566160" cy="2697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E8639F"/>
                </a:solidFill>
                <a:latin typeface="Calibri"/>
                <a:cs typeface="Calibri"/>
              </a:rPr>
              <a:t xml:space="preserve">FUTURE SCOPE</a:t>
            </a:r>
          </a:p>
          <a:p>
            <a:pPr marL="171450" indent="-171450" algn="l">
              <a:spcAft>
                <a:spcPts val="500"/>
              </a:spcAft>
              <a:buClr>
                <a:srgbClr val="E8639F"/>
              </a:buClr>
              <a:buFont typeface="Arial"/>
              <a:buChar char="•"/>
            </a:pPr>
            <a:r>
              <a:rPr lang="en-US" sz="1150" dirty="0">
                <a:solidFill>
                  <a:srgbClr val="2E1B5B"/>
                </a:solidFill>
                <a:latin typeface="Calibri"/>
                <a:cs typeface="Calibri"/>
              </a:rPr>
              <a:t xml:space="preserve">Trainable and projected quantum kernels to fight concentration.</a:t>
            </a:r>
          </a:p>
          <a:p>
            <a:pPr marL="171450" indent="-171450" algn="l">
              <a:spcAft>
                <a:spcPts val="500"/>
              </a:spcAft>
              <a:buClr>
                <a:srgbClr val="E8639F"/>
              </a:buClr>
              <a:buFont typeface="Arial"/>
              <a:buChar char="•"/>
            </a:pPr>
            <a:r>
              <a:rPr lang="en-US" sz="1150" dirty="0">
                <a:solidFill>
                  <a:srgbClr val="2E1B5B"/>
                </a:solidFill>
                <a:latin typeface="Calibri"/>
                <a:cs typeface="Calibri"/>
              </a:rPr>
              <a:t xml:space="preserve">Error mitigation (readout, ZNE) and a full QSVC trained on hardware kernels.</a:t>
            </a:r>
          </a:p>
          <a:p>
            <a:pPr marL="171450" indent="-171450" algn="l">
              <a:spcAft>
                <a:spcPts val="500"/>
              </a:spcAft>
              <a:buClr>
                <a:srgbClr val="E8639F"/>
              </a:buClr>
              <a:buFont typeface="Arial"/>
              <a:buChar char="•"/>
            </a:pPr>
            <a:r>
              <a:rPr lang="en-US" sz="1150" dirty="0">
                <a:solidFill>
                  <a:srgbClr val="2E1B5B"/>
                </a:solidFill>
                <a:latin typeface="Calibri"/>
                <a:cs typeface="Calibri"/>
              </a:rPr>
              <a:t xml:space="preserve">More targets from MoleculeNet and richer molecular features.</a:t>
            </a:r>
          </a:p>
          <a:p>
            <a:pPr marL="171450" indent="-171450" algn="l">
              <a:spcAft>
                <a:spcPts val="500"/>
              </a:spcAft>
              <a:buClr>
                <a:srgbClr val="E8639F"/>
              </a:buClr>
              <a:buFont typeface="Arial"/>
              <a:buChar char="•"/>
            </a:pPr>
            <a:r>
              <a:rPr lang="en-US" sz="1150" dirty="0">
                <a:solidFill>
                  <a:srgbClr val="2E1B5B"/>
                </a:solidFill>
                <a:latin typeface="Calibri"/>
                <a:cs typeface="Calibri"/>
              </a:rPr>
              <a:t xml:space="preserve">More seeds and molecules for statistically significant comparisons.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6460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anchor="ctr"/>
          <a:lstStyle>
            <a:lvl1pPr>
              <a:defRPr sz="900">
                <a:solidFill>
                  <a:srgbClr val="2E1B5B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9144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E863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88720"/>
            <a:ext cx="4754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200" b="1" dirty="0">
                <a:solidFill>
                  <a:srgbClr val="2E1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4200" dirty="0"/>
          </a:p>
          <a:p>
            <a:pPr marL="0" indent="0">
              <a:buNone/>
            </a:pPr>
            <a:r>
              <a:rPr lang="en-US" sz="4200" b="1" dirty="0">
                <a:solidFill>
                  <a:srgbClr val="E8639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Questions?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78892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6F7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Inspiring Minds. Shaping Tomorrow.</a:t>
            </a:r>
            <a:endParaRPr lang="en-US" sz="1300" dirty="0"/>
          </a:p>
        </p:txBody>
      </p:sp>
      <p:sp>
        <p:nvSpPr>
          <p:cNvPr id="5" name="Field: GITHUB REPOSITORY"/>
          <p:cNvSpPr/>
          <p:nvPr/>
        </p:nvSpPr>
        <p:spPr>
          <a:xfrm>
            <a:off x="457200" y="3291840"/>
            <a:ext cx="2286000" cy="71323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B8BDEB"/>
            </a:solidFill>
          </a:ln>
        </p:spPr>
        <p:txBody>
          <a:bodyPr wrap="square" lIns="63500" tIns="114300" rIns="114300" bIns="38100" rtlCol="0" anchor="t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5B3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REPOSITORY</a:t>
            </a:r>
            <a:endParaRPr lang="en-US" sz="90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2E1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github.com/vtu-qiskit-fall-fest-2026/vtu-hc-blackout</a:t>
            </a:r>
            <a:endParaRPr lang="en-US" sz="900" dirty="0"/>
          </a:p>
        </p:txBody>
      </p:sp>
      <p:sp>
        <p:nvSpPr>
          <p:cNvPr id="40" name="Field: LIVE WEB APP"/>
          <p:cNvSpPr/>
          <p:nvPr/>
        </p:nvSpPr>
        <p:spPr>
          <a:xfrm>
            <a:off x="457200" y="4096512"/>
            <a:ext cx="2286000" cy="566928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B8BDEB"/>
            </a:solidFill>
          </a:ln>
        </p:spPr>
        <p:txBody>
          <a:bodyPr wrap="square" lIns="63500" tIns="114300" rIns="114300" bIns="38100" rtlCol="0" anchor="t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5B3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WEB APP</a:t>
            </a:r>
            <a:endParaRPr lang="en-US" sz="90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2E1B5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App"/>
              </a:rPr>
              <a:t>qudock-blackout.streamlit.app</a:t>
            </a:r>
            <a:endParaRPr lang="en-US" sz="900" dirty="0"/>
          </a:p>
        </p:txBody>
      </p:sp>
      <p:sp>
        <p:nvSpPr>
          <p:cNvPr id="6" name="Field: DEMO VIDEO LINK"/>
          <p:cNvSpPr/>
          <p:nvPr/>
        </p:nvSpPr>
        <p:spPr>
          <a:xfrm>
            <a:off x="2834640" y="3291840"/>
            <a:ext cx="2286000" cy="71323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B8BDEB"/>
            </a:solidFill>
          </a:ln>
        </p:spPr>
        <p:txBody>
          <a:bodyPr wrap="square" lIns="63500" tIns="114300" rIns="114300" bIns="38100" rtlCol="0" anchor="t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5B3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VIDEO LINK</a:t>
            </a:r>
            <a:endParaRPr lang="en-US" sz="90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2E1B5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Vid"/>
              </a:rPr>
              <a:t>drive.google.com/file/d/17vJ5pzTXjhN4cXxzwQyV3GzaghxDYzhk</a:t>
            </a:r>
            <a:endParaRPr lang="en-US" sz="900" dirty="0"/>
          </a:p>
        </p:txBody>
      </p:sp>
      <p:pic>
        <p:nvPicPr>
          <p:cNvPr id="7" name="Bloch sphere ring" descr="sphe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1097280"/>
            <a:ext cx="3200400" cy="3200400"/>
          </a:xfrm>
          <a:prstGeom prst="rect">
            <a:avLst/>
          </a:prstGeom>
        </p:spPr>
      </p:pic>
      <p:pic>
        <p:nvPicPr>
          <p:cNvPr id="8" name="Image 1" descr="bird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914400"/>
            <a:ext cx="822960" cy="493776"/>
          </a:xfrm>
          <a:prstGeom prst="rect">
            <a:avLst/>
          </a:prstGeom>
        </p:spPr>
      </p:pic>
      <p:pic>
        <p:nvPicPr>
          <p:cNvPr id="9" name="Image 2" descr="bird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4880" y="3840480"/>
            <a:ext cx="548640" cy="329184"/>
          </a:xfrm>
          <a:prstGeom prst="rect">
            <a:avLst/>
          </a:prstGeom>
        </p:spPr>
      </p:pic>
      <p:pic>
        <p:nvPicPr>
          <p:cNvPr id="10" name="Image 3" descr="bird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600" y="4023360"/>
            <a:ext cx="457200" cy="2743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4"/>
          <p:cNvSpPr>
            <a:spLocks noGrp="1"/>
          </p:cNvSpPr>
          <p:nvPr>
            <p:ph type="title" idx="120" hasCustomPrompt="1"/>
          </p:nvPr>
        </p:nvSpPr>
        <p:spPr>
          <a:xfrm>
            <a:off x="457200" y="841248"/>
            <a:ext cx="6309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E1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Results: Noise &amp; Real Hardware</a:t>
            </a:r>
            <a:endParaRPr lang="en-US" sz="2600" dirty="0"/>
          </a:p>
        </p:txBody>
      </p:sp>
      <p:sp>
        <p:nvSpPr>
          <p:cNvPr id="3" name="Title accent"/>
          <p:cNvSpPr/>
          <p:nvPr/>
        </p:nvSpPr>
        <p:spPr>
          <a:xfrm>
            <a:off x="457200" y="1463040"/>
            <a:ext cx="256032" cy="45720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</p:sp>
      <p:sp>
        <p:nvSpPr>
          <p:cNvPr id="4" name="Title accent"/>
          <p:cNvSpPr/>
          <p:nvPr/>
        </p:nvSpPr>
        <p:spPr>
          <a:xfrm>
            <a:off x="731520" y="1463040"/>
            <a:ext cx="256032" cy="45720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</p:sp>
      <p:sp>
        <p:nvSpPr>
          <p:cNvPr id="5" name="Title accent"/>
          <p:cNvSpPr/>
          <p:nvPr/>
        </p:nvSpPr>
        <p:spPr>
          <a:xfrm>
            <a:off x="1005840" y="1463040"/>
            <a:ext cx="256032" cy="45720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prstDash val="solid"/>
          </a:ln>
        </p:spPr>
      </p:sp>
      <p:sp>
        <p:nvSpPr>
          <p:cNvPr id="6" name="Insert area"/>
          <p:cNvSpPr/>
          <p:nvPr/>
        </p:nvSpPr>
        <p:spPr>
          <a:xfrm>
            <a:off x="457200" y="1691640"/>
            <a:ext cx="4937760" cy="2926080"/>
          </a:xfrm>
          <a:prstGeom prst="roundRect">
            <a:avLst>
              <a:gd name="adj" fmla="val 2500"/>
            </a:avLst>
          </a:prstGeom>
          <a:solidFill>
            <a:srgbClr val="EEF0FE"/>
          </a:solidFill>
          <a:ln w="15875">
            <a:solidFill>
              <a:srgbClr val="7C93F0"/>
            </a:solidFill>
            <a:prstDash val="dash"/>
          </a:ln>
        </p:spPr>
      </p:sp>
      <p:pic>
        <p:nvPicPr>
          <p:cNvPr id="136" name="Hardware kernel heatmaps" descr="Hardware kernel heatmap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2142999"/>
            <a:ext cx="4297680" cy="1657602"/>
          </a:xfrm>
          <a:prstGeom prst="rect">
            <a:avLst/>
          </a:prstGeom>
        </p:spPr>
      </p:pic>
      <p:sp>
        <p:nvSpPr>
          <p:cNvPr id="137" name="Heatmap caption"/>
          <p:cNvSpPr txBox="1"/>
          <p:nvPr/>
        </p:nvSpPr>
        <p:spPr>
          <a:xfrm>
            <a:off x="566928" y="3873753"/>
            <a:ext cx="429768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950" i="1" dirty="0">
                <a:solidFill>
                  <a:srgbClr val="6F7399"/>
                </a:solidFill>
                <a:latin typeface="Calibri"/>
                <a:cs typeface="Calibri"/>
              </a:rPr>
              <a:t xml:space="preserve">Kernel for 12 molecules (6 inhibitors first): ideal, simulated and measured on ibm_marrakesh</a:t>
            </a:r>
          </a:p>
        </p:txBody>
      </p:sp>
      <p:sp>
        <p:nvSpPr>
          <p:cNvPr id="8" name="Content card"/>
          <p:cNvSpPr/>
          <p:nvPr/>
        </p:nvSpPr>
        <p:spPr>
          <a:xfrm>
            <a:off x="5577840" y="1691640"/>
            <a:ext cx="310896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B8BDEB"/>
            </a:solidFill>
            <a:prstDash val="solid"/>
          </a:ln>
        </p:spPr>
      </p:sp>
      <p:sp>
        <p:nvSpPr>
          <p:cNvPr id="9" name="Card accent"/>
          <p:cNvSpPr/>
          <p:nvPr/>
        </p:nvSpPr>
        <p:spPr>
          <a:xfrm>
            <a:off x="5806440" y="1691640"/>
            <a:ext cx="822960" cy="54864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prstDash val="solid"/>
          </a:ln>
        </p:spPr>
      </p:sp>
      <p:sp>
        <p:nvSpPr>
          <p:cNvPr id="138" name="Key details"/>
          <p:cNvSpPr txBox="1"/>
          <p:nvPr/>
        </p:nvSpPr>
        <p:spPr>
          <a:xfrm>
            <a:off x="5760720" y="1810512"/>
            <a:ext cx="2743200" cy="2697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marL="171450" indent="-171450" algn="l">
              <a:spcAft>
                <a:spcPts val="300"/>
              </a:spcAft>
              <a:buClr>
                <a:srgbClr val="5B3BA8"/>
              </a:buClr>
              <a:buFont typeface="Arial"/>
              <a:buChar char="•"/>
            </a:pPr>
            <a:r>
              <a:rPr lang="en-US" sz="1050" b="1" dirty="0">
                <a:solidFill>
                  <a:srgbClr val="2E1B5B"/>
                </a:solidFill>
                <a:latin typeface="Calibri"/>
                <a:cs typeface="Calibri"/>
              </a:rPr>
              <a:t xml:space="preserve">Simulated IBM Torino: </a:t>
            </a:r>
            <a:r>
              <a:rPr lang="en-US" sz="1050" dirty="0">
                <a:solidFill>
                  <a:srgbClr val="2E1B5B"/>
                </a:solidFill>
                <a:latin typeface="Calibri"/>
                <a:cs typeface="Calibri"/>
              </a:rPr>
              <a:t xml:space="preserve">device noise gives 8 to 13% kernel error (shots alone 1.4 to 6.4%).</a:t>
            </a:r>
          </a:p>
          <a:p>
            <a:pPr marL="171450" indent="-171450" algn="l">
              <a:spcAft>
                <a:spcPts val="300"/>
              </a:spcAft>
              <a:buClr>
                <a:srgbClr val="5B3BA8"/>
              </a:buClr>
              <a:buFont typeface="Arial"/>
              <a:buChar char="•"/>
            </a:pPr>
            <a:r>
              <a:rPr lang="en-US" sz="1050" b="1" dirty="0">
                <a:solidFill>
                  <a:srgbClr val="2E1B5B"/>
                </a:solidFill>
                <a:latin typeface="Calibri"/>
                <a:cs typeface="Calibri"/>
              </a:rPr>
              <a:t xml:space="preserve">Accuracy holds: </a:t>
            </a:r>
            <a:r>
              <a:rPr lang="en-US" sz="1050" dirty="0">
                <a:solidFill>
                  <a:srgbClr val="2E1B5B"/>
                </a:solidFill>
                <a:latin typeface="Calibri"/>
                <a:cs typeface="Calibri"/>
              </a:rPr>
              <a:t xml:space="preserve">test ROC-AUC stays 0.62 to 0.66 in every noise setting.</a:t>
            </a:r>
          </a:p>
          <a:p>
            <a:pPr marL="171450" indent="-171450" algn="l">
              <a:spcAft>
                <a:spcPts val="300"/>
              </a:spcAft>
              <a:buClr>
                <a:srgbClr val="5B3BA8"/>
              </a:buClr>
              <a:buFont typeface="Arial"/>
              <a:buChar char="•"/>
            </a:pPr>
            <a:r>
              <a:rPr lang="en-US" sz="1050" b="1" dirty="0">
                <a:solidFill>
                  <a:srgbClr val="2E1B5B"/>
                </a:solidFill>
                <a:latin typeface="Calibri"/>
                <a:cs typeface="Calibri"/>
              </a:rPr>
              <a:t xml:space="preserve">Real ibm_marrakesh: </a:t>
            </a:r>
            <a:r>
              <a:rPr lang="en-US" sz="1050" dirty="0">
                <a:solidFill>
                  <a:srgbClr val="2E1B5B"/>
                </a:solidFill>
                <a:latin typeface="Calibri"/>
                <a:cs typeface="Calibri"/>
              </a:rPr>
              <a:t xml:space="preserve">66 circuits, 1,024 shots, 20 s of quantum time.</a:t>
            </a:r>
          </a:p>
          <a:p>
            <a:pPr marL="171450" indent="-171450" algn="l">
              <a:spcAft>
                <a:spcPts val="300"/>
              </a:spcAft>
              <a:buClr>
                <a:srgbClr val="5B3BA8"/>
              </a:buClr>
              <a:buFont typeface="Arial"/>
              <a:buChar char="•"/>
            </a:pPr>
            <a:r>
              <a:rPr lang="en-US" sz="1050" b="1" dirty="0">
                <a:solidFill>
                  <a:srgbClr val="2E1B5B"/>
                </a:solidFill>
                <a:latin typeface="Calibri"/>
                <a:cs typeface="Calibri"/>
              </a:rPr>
              <a:t xml:space="preserve">Kernel error: </a:t>
            </a:r>
            <a:r>
              <a:rPr lang="en-US" sz="1050" dirty="0">
                <a:solidFill>
                  <a:srgbClr val="2E1B5B"/>
                </a:solidFill>
                <a:latin typeface="Calibri"/>
                <a:cs typeface="Calibri"/>
              </a:rPr>
              <a:t xml:space="preserve">17.5% on hardware vs 10.3% simulated, yet correlation with ideal is 0.996.</a:t>
            </a:r>
          </a:p>
          <a:p>
            <a:pPr marL="171450" indent="-171450" algn="l">
              <a:spcAft>
                <a:spcPts val="300"/>
              </a:spcAft>
              <a:buClr>
                <a:srgbClr val="5B3BA8"/>
              </a:buClr>
              <a:buFont typeface="Arial"/>
              <a:buChar char="•"/>
            </a:pPr>
            <a:r>
              <a:rPr lang="en-US" sz="1050" b="1" dirty="0">
                <a:solidFill>
                  <a:srgbClr val="2E1B5B"/>
                </a:solidFill>
                <a:latin typeface="Calibri"/>
                <a:cs typeface="Calibri"/>
              </a:rPr>
              <a:t xml:space="preserve">Why it works: </a:t>
            </a:r>
            <a:r>
              <a:rPr lang="en-US" sz="1050" dirty="0">
                <a:solidFill>
                  <a:srgbClr val="2E1B5B"/>
                </a:solidFill>
                <a:latin typeface="Calibri"/>
                <a:cs typeface="Calibri"/>
              </a:rPr>
              <a:t xml:space="preserve">noise shrinks all values a little, so the ranking of molecules survives.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6460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anchor="ctr"/>
          <a:lstStyle>
            <a:lvl1pPr>
              <a:defRPr sz="900">
                <a:solidFill>
                  <a:srgbClr val="2E1B5B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  <a:t>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Qiskit Fall Fest">
  <a:themeElements>
    <a:clrScheme name="Qiskit Fall Fest">
      <a:dk1>
        <a:srgbClr val="2E1B5B"/>
      </a:dk1>
      <a:lt1>
        <a:srgbClr val="FFFFFF"/>
      </a:lt1>
      <a:dk2>
        <a:srgbClr val="4B2BA8"/>
      </a:dk2>
      <a:lt2>
        <a:srgbClr val="DDE2FC"/>
      </a:lt2>
      <a:accent1>
        <a:srgbClr val="E0558F"/>
      </a:accent1>
      <a:accent2>
        <a:srgbClr val="6B3FD4"/>
      </a:accent2>
      <a:accent3>
        <a:srgbClr val="F5C33B"/>
      </a:accent3>
      <a:accent4>
        <a:srgbClr val="3B82F6"/>
      </a:accent4>
      <a:accent5>
        <a:srgbClr val="7B58B8"/>
      </a:accent5>
      <a:accent6>
        <a:srgbClr val="2BB5A0"/>
      </a:accent6>
      <a:hlink>
        <a:srgbClr val="6B3FD4"/>
      </a:hlink>
      <a:folHlink>
        <a:srgbClr val="4B2BA8"/>
      </a:folHlink>
    </a:clrScheme>
    <a:fontScheme name="Qiskit Fall Fest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