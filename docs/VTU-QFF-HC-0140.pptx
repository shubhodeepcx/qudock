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6" r:id="rId15"/>
    <p:sldId id="267" r:id="rId16"/>
    <p:sldId id="263" r:id="rId12"/>
    <p:sldId id="264" r:id="rId13"/>
    <p:sldId id="265" r:id="rId14"/>
  </p:sldIdLst>
  <p:sldSz cy="5143500" cx="9144000"/>
  <p:notesSz cx="5143500" cy="9144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8.xml"/><Relationship Id="rId1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qudock_circuit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qudock_learning_curve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qudock_hw_heatmaps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App" Type="http://schemas.openxmlformats.org/officeDocument/2006/relationships/hyperlink" Target="https://qudock-blackout.streamlit.app/" TargetMode="External"/><Relationship Id="rIdVid" Type="http://schemas.openxmlformats.org/officeDocument/2006/relationships/hyperlink" Target="https://drive.google.com/file/d/17vJ5pzTXjhN4cXxzwQyV3GzaghxDYzhk/view?usp=sharing" TargetMode="Externa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qudock_hw_heatmaps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QuDock: quantum kernels for Alzheimer's drug screening (BACE-1)</a:t>
            </a:r>
            <a:endParaRPr lang="en-US" sz="900" dirty="0"/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ML for drug discovery</a:t>
            </a:r>
            <a:endParaRPr lang="en-US" sz="90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BlackOut (VTU-QFF-HC-0140)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Shubhodeep Chatterjee</a:t>
            </a:r>
            <a:endParaRPr lang="en-US" sz="9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shubhodeepcx@gmail.com</a:t>
            </a:r>
            <a:endParaRPr lang="en-US" sz="90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Shubhodeep Chatterjee, Srijita Banerjee, Rounak Pal</a:t>
            </a:r>
            <a:endParaRPr lang="en-US" sz="90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 India University, Kolkata</a:t>
            </a:r>
            <a:endParaRPr lang="en-US" sz="900" dirty="0"/>
          </a:p>
        </p:txBody>
      </p:sp>
      <p:sp>
        <p:nvSpPr>
          <p:cNvPr id="17" name="Field: COUNTRY"/>
          <p:cNvSpPr/>
          <p:nvPr/>
        </p:nvSpPr>
        <p:spPr>
          <a:xfrm>
            <a:off x="640080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01" name="Problem text"/>
          <p:cNvSpPr txBox="1"/>
          <p:nvPr/>
        </p:nvSpPr>
        <p:spPr>
          <a:xfrm>
            <a:off x="685800" y="1828800"/>
            <a:ext cx="466344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3BA8"/>
                </a:solidFill>
                <a:latin typeface="Calibri"/>
                <a:cs typeface="Calibri"/>
              </a:rPr>
              <a:t xml:space="preserve">THE PROBLEM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Screening is slow and costly: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drug discovery tests thousands of molecules to find the few that block a target protein.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Labels are scarce: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lab-measured activity is expensive, so models must learn from few examples.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Untested claims: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quantum kernels are said to learn more from less data, but are rarely checked against tuned classical models, realistic splits or real hardware noise.</a:t>
            </a:r>
          </a:p>
        </p:txBody>
      </p:sp>
      <p:sp>
        <p:nvSpPr>
          <p:cNvPr id="102" name="Question box"/>
          <p:cNvSpPr/>
          <p:nvPr/>
        </p:nvSpPr>
        <p:spPr>
          <a:xfrm>
            <a:off x="5577840" y="1828800"/>
            <a:ext cx="2880360" cy="114300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109728" tIns="109728" rIns="109728" bIns="109728" rtlCol="0" anchor="t">
            <a:norm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639F"/>
                </a:solidFill>
                <a:latin typeface="Calibri"/>
                <a:cs typeface="Calibri"/>
              </a:rPr>
              <a:t xml:space="preserve">Our question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2E1B5B"/>
                </a:solidFill>
                <a:latin typeface="Calibri"/>
                <a:cs typeface="Calibri"/>
              </a:rPr>
              <a:t xml:space="preserve">Can a quantum kernel find BACE-1 inhibitors as well as or better than tuned classical ML, on real chemistry and real IBM hardware?</a:t>
            </a:r>
          </a:p>
        </p:txBody>
      </p:sp>
      <p:sp>
        <p:nvSpPr>
          <p:cNvPr id="103" name="Stat molecules"/>
          <p:cNvSpPr txBox="1"/>
          <p:nvPr/>
        </p:nvSpPr>
        <p:spPr>
          <a:xfrm>
            <a:off x="5577840" y="315468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rgbClr val="5B3BA8"/>
                </a:solidFill>
                <a:latin typeface="Georgia"/>
                <a:cs typeface="Georgia"/>
              </a:rPr>
              <a:t xml:space="preserve">1,513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dirty="0">
                <a:solidFill>
                  <a:srgbClr val="6F7399"/>
                </a:solidFill>
                <a:latin typeface="Calibri"/>
                <a:cs typeface="Calibri"/>
              </a:rPr>
              <a:t xml:space="preserve">BACE molecules, labelled inhibitor or not</a:t>
            </a:r>
          </a:p>
        </p:txBody>
      </p:sp>
      <p:sp>
        <p:nvSpPr>
          <p:cNvPr id="104" name="Stat target"/>
          <p:cNvSpPr txBox="1"/>
          <p:nvPr/>
        </p:nvSpPr>
        <p:spPr>
          <a:xfrm>
            <a:off x="7086600" y="3154680"/>
            <a:ext cx="1371600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2400" b="1" dirty="0">
                <a:solidFill>
                  <a:srgbClr val="E8639F"/>
                </a:solidFill>
                <a:latin typeface="Georgia"/>
                <a:cs typeface="Georgia"/>
              </a:rPr>
              <a:t xml:space="preserve">BACE-1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dirty="0">
                <a:solidFill>
                  <a:srgbClr val="6F7399"/>
                </a:solidFill>
                <a:latin typeface="Calibri"/>
                <a:cs typeface="Calibri"/>
              </a:rPr>
              <a:t xml:space="preserve">key enzyme behind amyloid plaques in Alzheimer's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05" name="Objectives"/>
          <p:cNvSpPr txBox="1"/>
          <p:nvPr/>
        </p:nvSpPr>
        <p:spPr>
          <a:xfrm>
            <a:off x="685800" y="1828800"/>
            <a:ext cx="379476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3BA8"/>
                </a:solidFill>
                <a:latin typeface="Calibri"/>
                <a:cs typeface="Calibri"/>
              </a:rPr>
              <a:t xml:space="preserve">OBJECTIVES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8639F"/>
                </a:solidFill>
                <a:latin typeface="Calibri"/>
                <a:cs typeface="Calibri"/>
              </a:rPr>
              <a:t xml:space="preserve">1. 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Build an open, reproducible quantum kernel pipeline for BACE-1 inhibitor prediction.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8639F"/>
                </a:solidFill>
                <a:latin typeface="Calibri"/>
                <a:cs typeface="Calibri"/>
              </a:rPr>
              <a:t xml:space="preserve">2. 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Compare fidelity, projected, hybrid and trainable quantum kernels with tuned classical models on identical features.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8639F"/>
                </a:solidFill>
                <a:latin typeface="Calibri"/>
                <a:cs typeface="Calibri"/>
              </a:rPr>
              <a:t xml:space="preserve">3. 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Attack our own result: 6 scaffold splits, 10 seeds, paired bootstrap and Wilcoxon tests, 3 datasets.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8639F"/>
                </a:solidFill>
                <a:latin typeface="Calibri"/>
                <a:cs typeface="Calibri"/>
              </a:rPr>
              <a:t xml:space="preserve">4. 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Measure hardware noise and price a full run on a real IBM quantum computer.</a:t>
            </a:r>
          </a:p>
          <a:p>
            <a:pPr marL="0" indent="0" algn="l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E8639F"/>
                </a:solidFill>
                <a:latin typeface="Calibri"/>
                <a:cs typeface="Calibri"/>
              </a:rPr>
              <a:t xml:space="preserve">5. 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Turn it into a tool: a screening campaign, calibrated confidence and atom-level explanations.</a:t>
            </a:r>
          </a:p>
        </p:txBody>
      </p:sp>
      <p:sp>
        <p:nvSpPr>
          <p:cNvPr id="106" name="Novelty"/>
          <p:cNvSpPr txBox="1"/>
          <p:nvPr/>
        </p:nvSpPr>
        <p:spPr>
          <a:xfrm>
            <a:off x="4663440" y="1828800"/>
            <a:ext cx="379476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8639F"/>
                </a:solidFill>
                <a:latin typeface="Calibri"/>
                <a:cs typeface="Calibri"/>
              </a:rPr>
              <a:t xml:space="preserve">WHAT IS NEW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Hybrid kernel: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quantum kernel mixed with Tanimoto similarity, weight chosen by cross-validation: our best quantum model at 0.776.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Trainable feature map: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per-angle weights and RY rotations tuned by kernel-target alignment: +0.012, p = 0.03.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Beating concentration: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bandwidth tuned by alignment keeps the kernel 9 to 17× more spread out up to 14 qubits.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b="1" dirty="0">
                <a:solidFill>
                  <a:srgbClr val="2E1B5B"/>
                </a:solidFill>
                <a:latin typeface="Calibri"/>
                <a:cs typeface="Calibri"/>
              </a:rPr>
              <a:t xml:space="preserve">Honest by construction: </a:t>
            </a: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6 splits, 3 datasets and a hardware cost model; we report where classical still wins.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07" name="Step DATA"/>
          <p:cNvSpPr/>
          <p:nvPr/>
        </p:nvSpPr>
        <p:spPr>
          <a:xfrm>
            <a:off x="685800" y="1828800"/>
            <a:ext cx="1691640" cy="82296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3F57C8"/>
                </a:solidFill>
                <a:latin typeface="Calibri"/>
                <a:cs typeface="Calibri"/>
              </a:rPr>
              <a:t xml:space="preserve">DATA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1,513 BACE molecules, scaffold split</a:t>
            </a:r>
          </a:p>
        </p:txBody>
      </p:sp>
      <p:sp>
        <p:nvSpPr>
          <p:cNvPr id="108" name="Arrow 0"/>
          <p:cNvSpPr txBox="1"/>
          <p:nvPr/>
        </p:nvSpPr>
        <p:spPr>
          <a:xfrm>
            <a:off x="2377440" y="2057400"/>
            <a:ext cx="3383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B3BA8"/>
                </a:solidFill>
                <a:latin typeface="Calibri"/>
                <a:cs typeface="Calibri"/>
              </a:rPr>
              <a:t xml:space="preserve">→</a:t>
            </a:r>
          </a:p>
        </p:txBody>
      </p:sp>
      <p:sp>
        <p:nvSpPr>
          <p:cNvPr id="109" name="Step FEATURES"/>
          <p:cNvSpPr/>
          <p:nvPr/>
        </p:nvSpPr>
        <p:spPr>
          <a:xfrm>
            <a:off x="2715768" y="1828800"/>
            <a:ext cx="1691640" cy="82296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8639F"/>
                </a:solidFill>
                <a:latin typeface="Calibri"/>
                <a:cs typeface="Calibri"/>
              </a:rPr>
              <a:t xml:space="preserve">FEATURES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ECFP4 + 10 descriptors, supervised PLS to n angles</a:t>
            </a:r>
          </a:p>
        </p:txBody>
      </p:sp>
      <p:sp>
        <p:nvSpPr>
          <p:cNvPr id="110" name="Arrow 1"/>
          <p:cNvSpPr txBox="1"/>
          <p:nvPr/>
        </p:nvSpPr>
        <p:spPr>
          <a:xfrm>
            <a:off x="4407408" y="2057400"/>
            <a:ext cx="3383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B3BA8"/>
                </a:solidFill>
                <a:latin typeface="Calibri"/>
                <a:cs typeface="Calibri"/>
              </a:rPr>
              <a:t xml:space="preserve">→</a:t>
            </a:r>
          </a:p>
        </p:txBody>
      </p:sp>
      <p:sp>
        <p:nvSpPr>
          <p:cNvPr id="111" name="Step QUANTUM"/>
          <p:cNvSpPr/>
          <p:nvPr/>
        </p:nvSpPr>
        <p:spPr>
          <a:xfrm>
            <a:off x="4745736" y="1828800"/>
            <a:ext cx="1691640" cy="82296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5B3BA8"/>
                </a:solidFill>
                <a:latin typeface="Calibri"/>
                <a:cs typeface="Calibri"/>
              </a:rPr>
              <a:t xml:space="preserve">QUANTUM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Trainable ZZ map; fidelity, projected or hybrid kernel</a:t>
            </a:r>
          </a:p>
        </p:txBody>
      </p:sp>
      <p:sp>
        <p:nvSpPr>
          <p:cNvPr id="112" name="Arrow 2"/>
          <p:cNvSpPr txBox="1"/>
          <p:nvPr/>
        </p:nvSpPr>
        <p:spPr>
          <a:xfrm>
            <a:off x="6437376" y="2057400"/>
            <a:ext cx="3383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B3BA8"/>
                </a:solidFill>
                <a:latin typeface="Calibri"/>
                <a:cs typeface="Calibri"/>
              </a:rPr>
              <a:t xml:space="preserve">→</a:t>
            </a:r>
          </a:p>
        </p:txBody>
      </p:sp>
      <p:sp>
        <p:nvSpPr>
          <p:cNvPr id="113" name="Step MODEL"/>
          <p:cNvSpPr/>
          <p:nvPr/>
        </p:nvSpPr>
        <p:spPr>
          <a:xfrm>
            <a:off x="6775704" y="1828800"/>
            <a:ext cx="1691640" cy="82296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54864" tIns="54864" rIns="54864" bIns="54864" rtlCol="0" anchor="ctr">
            <a:norm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E8639F"/>
                </a:solidFill>
                <a:latin typeface="Calibri"/>
                <a:cs typeface="Calibri"/>
              </a:rPr>
              <a:t xml:space="preserve">MODEL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Kernel SVM vs 6 tuned classical models</a:t>
            </a:r>
          </a:p>
        </p:txBody>
      </p:sp>
      <p:sp>
        <p:nvSpPr>
          <p:cNvPr id="114" name="Solution"/>
          <p:cNvSpPr txBox="1"/>
          <p:nvPr/>
        </p:nvSpPr>
        <p:spPr>
          <a:xfrm>
            <a:off x="685800" y="2834640"/>
            <a:ext cx="37947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3BA8"/>
                </a:solidFill>
                <a:latin typeface="Calibri"/>
                <a:cs typeface="Calibri"/>
              </a:rPr>
              <a:t xml:space="preserve">HOW IT WORKS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Each molecule is compressed with supervised PLS into a few angles and loaded into a ZZ feature map circuit.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00" b="1" dirty="0">
                <a:solidFill>
                  <a:srgbClr val="2E1B5B"/>
                </a:solidFill>
                <a:latin typeface="Calibri"/>
                <a:cs typeface="Calibri"/>
              </a:rPr>
              <a:t xml:space="preserve">Kernel: </a:t>
            </a: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k(x, y) = |⟨φ(x)|φ(y)⟩|², the overlap of two molecules' quantum states; the projected kernel needs one circuit per molecule.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An SVM learns on this kernel; classical models get exactly the same features, splits and seeds.</a:t>
            </a:r>
          </a:p>
        </p:txBody>
      </p:sp>
      <p:sp>
        <p:nvSpPr>
          <p:cNvPr id="115" name="Advantage"/>
          <p:cNvSpPr txBox="1"/>
          <p:nvPr/>
        </p:nvSpPr>
        <p:spPr>
          <a:xfrm>
            <a:off x="4663440" y="2834640"/>
            <a:ext cx="37947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8639F"/>
                </a:solidFill>
                <a:latin typeface="Calibri"/>
                <a:cs typeface="Calibri"/>
              </a:rPr>
              <a:t xml:space="preserve">WHERE QUANTUM COULD HELP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00" b="1" dirty="0">
                <a:solidFill>
                  <a:srgbClr val="2E1B5B"/>
                </a:solidFill>
                <a:latin typeface="Calibri"/>
                <a:cs typeface="Calibri"/>
              </a:rPr>
              <a:t xml:space="preserve">Hard to simulate: </a:t>
            </a: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entangling feature maps become infeasible to compute classically as qubits grow.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00" b="1" dirty="0">
                <a:solidFill>
                  <a:srgbClr val="2E1B5B"/>
                </a:solidFill>
                <a:latin typeface="Calibri"/>
                <a:cs typeface="Calibri"/>
              </a:rPr>
              <a:t xml:space="preserve">A different view of the data: </a:t>
            </a: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the hybrid kernel keeps a real quantum share (w = 0.1 to 0.5) after cross-validation.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00" b="1" dirty="0">
                <a:solidFill>
                  <a:srgbClr val="2E1B5B"/>
                </a:solidFill>
                <a:latin typeface="Calibri"/>
                <a:cs typeface="Calibri"/>
              </a:rPr>
              <a:t xml:space="preserve">Trainable: </a:t>
            </a: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learning the feature map is the one place quantum beats its own baseline (+0.012, p = 0.03).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pic>
        <p:nvPicPr>
          <p:cNvPr id="116" name="ZZ feature map circuit" descr="ZZ feature map circu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49095"/>
            <a:ext cx="4663440" cy="2136850"/>
          </a:xfrm>
          <a:prstGeom prst="rect">
            <a:avLst/>
          </a:prstGeom>
        </p:spPr>
      </p:pic>
      <p:sp>
        <p:nvSpPr>
          <p:cNvPr id="117" name="Circuit caption"/>
          <p:cNvSpPr txBox="1"/>
          <p:nvPr/>
        </p:nvSpPr>
        <p:spPr>
          <a:xfrm>
            <a:off x="594360" y="4131665"/>
            <a:ext cx="4663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F7399"/>
                </a:solidFill>
                <a:latin typeface="Calibri"/>
                <a:cs typeface="Calibri"/>
              </a:rPr>
              <a:t xml:space="preserve">ZZFeatureMap, 4 qubits, reps = 2, linear entanglement (Qiskit)</a:t>
            </a:r>
          </a:p>
        </p:txBody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18" name="Key details"/>
          <p:cNvSpPr txBox="1"/>
          <p:nvPr/>
        </p:nvSpPr>
        <p:spPr>
          <a:xfrm>
            <a:off x="5760720" y="1810512"/>
            <a:ext cx="274320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Encode: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ECFP4 (2048 bits) + 10 RDKit descriptors, supervised PLS to n values, scaled to [0, π].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Feature map: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Hadamards, RZ(2wᵢxᵢ), ZZ entanglers between neighbours, trainable RY(θᵢ); bandwidth by kernel-target alignment.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Kernels: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fidelity (compute-uncompute), projected (⟨X⟩⟨Y⟩⟨Z⟩ per qubit, 700× fewer circuits) and hybrid w·K_Q + (1 − w)·K_Tanimoto.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Classifier: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SVM on the precomputed kernel; C, bandwidth and w by inner cross-validation.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19" name="Modules"/>
          <p:cNvSpPr txBox="1"/>
          <p:nvPr/>
        </p:nvSpPr>
        <p:spPr>
          <a:xfrm>
            <a:off x="685800" y="1828800"/>
            <a:ext cx="420624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3BA8"/>
                </a:solidFill>
                <a:latin typeface="Calibri"/>
                <a:cs typeface="Calibri"/>
              </a:rPr>
              <a:t xml:space="preserve">PIPELINE MODULES (SRC/QUDOCK)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data / features: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BACE, BBBP and ClinTox; scaffold split and 6 reseeded splits; ECFP4, descriptors, PLS / PCA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quantum / classical: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fidelity, projected, hybrid, trainable and graph kernels, Nyström; SVM-RBF, RF, boosting, Tanimoto SVM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analysis: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learning curves, concentration, bootstrap and Wilcoxon tests, conformal sets, atom explanations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hardware / screening: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FakeTorino noise, ibm_marrakesh run, cost model, active-learning campaign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delivery: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qudock CLI, HTTP API, Streamlit web app, docs site, 182 tests</a:t>
            </a:r>
          </a:p>
        </p:txBody>
      </p:sp>
      <p:sp>
        <p:nvSpPr>
          <p:cNvPr id="120" name="Stack heading"/>
          <p:cNvSpPr txBox="1"/>
          <p:nvPr/>
        </p:nvSpPr>
        <p:spPr>
          <a:xfrm>
            <a:off x="5120640" y="182880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8639F"/>
                </a:solidFill>
                <a:latin typeface="Calibri"/>
                <a:cs typeface="Calibri"/>
              </a:rPr>
              <a:t xml:space="preserve">TECH STACK</a:t>
            </a:r>
          </a:p>
        </p:txBody>
      </p:sp>
      <p:sp>
        <p:nvSpPr>
          <p:cNvPr id="121" name="Chip Qiskit 2.6"/>
          <p:cNvSpPr/>
          <p:nvPr/>
        </p:nvSpPr>
        <p:spPr>
          <a:xfrm>
            <a:off x="5120640" y="21488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3F57C8"/>
                </a:solidFill>
                <a:latin typeface="Calibri"/>
                <a:cs typeface="Calibri"/>
              </a:rPr>
              <a:t xml:space="preserve">Qiskit 2.6</a:t>
            </a:r>
          </a:p>
        </p:txBody>
      </p:sp>
      <p:sp>
        <p:nvSpPr>
          <p:cNvPr id="122" name="Chip Qiskit Aer"/>
          <p:cNvSpPr/>
          <p:nvPr/>
        </p:nvSpPr>
        <p:spPr>
          <a:xfrm>
            <a:off x="6245352" y="21488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3F57C8"/>
                </a:solidFill>
                <a:latin typeface="Calibri"/>
                <a:cs typeface="Calibri"/>
              </a:rPr>
              <a:t xml:space="preserve">Qiskit Aer</a:t>
            </a:r>
          </a:p>
        </p:txBody>
      </p:sp>
      <p:sp>
        <p:nvSpPr>
          <p:cNvPr id="123" name="Chip Qiskit IBM Runtime"/>
          <p:cNvSpPr/>
          <p:nvPr/>
        </p:nvSpPr>
        <p:spPr>
          <a:xfrm>
            <a:off x="7370064" y="21488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3F57C8"/>
                </a:solidFill>
                <a:latin typeface="Calibri"/>
                <a:cs typeface="Calibri"/>
              </a:rPr>
              <a:t xml:space="preserve">Qiskit IBM Runtime</a:t>
            </a:r>
          </a:p>
        </p:txBody>
      </p:sp>
      <p:sp>
        <p:nvSpPr>
          <p:cNvPr id="124" name="Chip Qiskit ML"/>
          <p:cNvSpPr/>
          <p:nvPr/>
        </p:nvSpPr>
        <p:spPr>
          <a:xfrm>
            <a:off x="5120640" y="26060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3F57C8"/>
                </a:solidFill>
                <a:latin typeface="Calibri"/>
                <a:cs typeface="Calibri"/>
              </a:rPr>
              <a:t xml:space="preserve">Qiskit ML</a:t>
            </a:r>
          </a:p>
        </p:txBody>
      </p:sp>
      <p:sp>
        <p:nvSpPr>
          <p:cNvPr id="125" name="Chip RDKit"/>
          <p:cNvSpPr/>
          <p:nvPr/>
        </p:nvSpPr>
        <p:spPr>
          <a:xfrm>
            <a:off x="6245352" y="26060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E8639F"/>
                </a:solidFill>
                <a:latin typeface="Calibri"/>
                <a:cs typeface="Calibri"/>
              </a:rPr>
              <a:t xml:space="preserve">RDKit</a:t>
            </a:r>
          </a:p>
        </p:txBody>
      </p:sp>
      <p:sp>
        <p:nvSpPr>
          <p:cNvPr id="126" name="Chip scikit-learn"/>
          <p:cNvSpPr/>
          <p:nvPr/>
        </p:nvSpPr>
        <p:spPr>
          <a:xfrm>
            <a:off x="7370064" y="26060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E8639F"/>
                </a:solidFill>
                <a:latin typeface="Calibri"/>
                <a:cs typeface="Calibri"/>
              </a:rPr>
              <a:t xml:space="preserve">scikit-learn</a:t>
            </a:r>
          </a:p>
        </p:txBody>
      </p:sp>
      <p:sp>
        <p:nvSpPr>
          <p:cNvPr id="127" name="Chip NumPy / pandas"/>
          <p:cNvSpPr/>
          <p:nvPr/>
        </p:nvSpPr>
        <p:spPr>
          <a:xfrm>
            <a:off x="5120640" y="30632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E8639F"/>
                </a:solidFill>
                <a:latin typeface="Calibri"/>
                <a:cs typeface="Calibri"/>
              </a:rPr>
              <a:t xml:space="preserve">NumPy / pandas</a:t>
            </a:r>
          </a:p>
        </p:txBody>
      </p:sp>
      <p:sp>
        <p:nvSpPr>
          <p:cNvPr id="128" name="Chip Matplotlib"/>
          <p:cNvSpPr/>
          <p:nvPr/>
        </p:nvSpPr>
        <p:spPr>
          <a:xfrm>
            <a:off x="6245352" y="30632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E8639F"/>
                </a:solidFill>
                <a:latin typeface="Calibri"/>
                <a:cs typeface="Calibri"/>
              </a:rPr>
              <a:t xml:space="preserve">Matplotlib</a:t>
            </a:r>
          </a:p>
        </p:txBody>
      </p:sp>
      <p:sp>
        <p:nvSpPr>
          <p:cNvPr id="129" name="Chip pytest + ruff"/>
          <p:cNvSpPr/>
          <p:nvPr/>
        </p:nvSpPr>
        <p:spPr>
          <a:xfrm>
            <a:off x="7370064" y="30632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B3BA8"/>
                </a:solidFill>
                <a:latin typeface="Calibri"/>
                <a:cs typeface="Calibri"/>
              </a:rPr>
              <a:t xml:space="preserve">pytest + ruff</a:t>
            </a:r>
          </a:p>
        </p:txBody>
      </p:sp>
      <p:sp>
        <p:nvSpPr>
          <p:cNvPr id="130" name="Chip GitHub Actions CI"/>
          <p:cNvSpPr/>
          <p:nvPr/>
        </p:nvSpPr>
        <p:spPr>
          <a:xfrm>
            <a:off x="5120640" y="35204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B3BA8"/>
                </a:solidFill>
                <a:latin typeface="Calibri"/>
                <a:cs typeface="Calibri"/>
              </a:rPr>
              <a:t xml:space="preserve">GitHub Actions CI</a:t>
            </a:r>
          </a:p>
        </p:txBody>
      </p:sp>
      <p:sp>
        <p:nvSpPr>
          <p:cNvPr id="131" name="Chip Docker"/>
          <p:cNvSpPr/>
          <p:nvPr/>
        </p:nvSpPr>
        <p:spPr>
          <a:xfrm>
            <a:off x="6245352" y="35204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B3BA8"/>
                </a:solidFill>
                <a:latin typeface="Calibri"/>
                <a:cs typeface="Calibri"/>
              </a:rPr>
              <a:t xml:space="preserve">Docker</a:t>
            </a:r>
          </a:p>
        </p:txBody>
      </p:sp>
      <p:sp>
        <p:nvSpPr>
          <p:cNvPr id="132" name="Chip JupyterLab"/>
          <p:cNvSpPr/>
          <p:nvPr/>
        </p:nvSpPr>
        <p:spPr>
          <a:xfrm>
            <a:off x="7370064" y="3520440"/>
            <a:ext cx="1051560" cy="384048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5B3BA8"/>
                </a:solidFill>
                <a:latin typeface="Calibri"/>
                <a:cs typeface="Calibri"/>
              </a:rPr>
              <a:t xml:space="preserve">JupyterLab</a:t>
            </a:r>
          </a:p>
        </p:txBody>
      </p:sp>
      <p:sp>
        <p:nvSpPr>
          <p:cNvPr id="133" name="Stack note"/>
          <p:cNvSpPr txBox="1"/>
          <p:nvPr/>
        </p:nvSpPr>
        <p:spPr>
          <a:xfrm>
            <a:off x="5120640" y="39776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6F7399"/>
                </a:solidFill>
                <a:latin typeface="Calibri"/>
                <a:cs typeface="Calibri"/>
              </a:rPr>
              <a:t xml:space="preserve">Pinned versions, 182 tests and CI on every push. One command regenerates every number; hardware run on the IBM Quantum open plan.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Quantum vs Classical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pic>
        <p:nvPicPr>
          <p:cNvPr id="136" name="Learning curve: test ROC-AUC vs training molecules" descr="score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790700"/>
            <a:ext cx="4445000" cy="2692400"/>
          </a:xfrm>
          <a:prstGeom prst="rect">
            <a:avLst/>
          </a:prstGeom>
        </p:spPr>
      </p:pic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35" name="Key details"/>
          <p:cNvSpPr txBox="1"/>
          <p:nvPr/>
        </p:nvSpPr>
        <p:spPr>
          <a:xfrm>
            <a:off x="5760720" y="1810512"/>
            <a:ext cx="274320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Best quantum: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hybrid quantum + Tanimoto at 0.776 ROC-AUC on BACE, up from 0.687 in round one.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Best classical: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Random Forest on fingerprints 0.782, Tanimoto SVM 0.781. The gap shrank from −0.053 to −0.006.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Second dataset: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BBBP hybrid 0.827 vs 0.829, a tie (p = 0.68).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Trained feature map: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+0.012 over the fixed ZZ map, 14 of 20 runs (p = 0.03).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Verdict: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quantum reaches the classical ceiling but does not beat it, and we say so.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Hardware &amp; Cost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pic>
        <p:nvPicPr>
          <p:cNvPr id="136" name="Hardware kernel heatmaps" descr="Hardware kernel heatmap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42999"/>
            <a:ext cx="4297680" cy="1657602"/>
          </a:xfrm>
          <a:prstGeom prst="rect">
            <a:avLst/>
          </a:prstGeom>
        </p:spPr>
      </p:pic>
      <p:sp>
        <p:nvSpPr>
          <p:cNvPr id="137" name="Heatmap caption"/>
          <p:cNvSpPr txBox="1"/>
          <p:nvPr/>
        </p:nvSpPr>
        <p:spPr>
          <a:xfrm>
            <a:off x="566928" y="3873753"/>
            <a:ext cx="42976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F7399"/>
                </a:solidFill>
                <a:latin typeface="Calibri"/>
                <a:cs typeface="Calibri"/>
              </a:rPr>
              <a:t xml:space="preserve">Kernel for 12 molecules (6 inhibitors first): ideal, simulated and measured on ibm_marrakesh</a:t>
            </a:r>
          </a:p>
        </p:txBody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38" name="Key details"/>
          <p:cNvSpPr txBox="1"/>
          <p:nvPr/>
        </p:nvSpPr>
        <p:spPr>
          <a:xfrm>
            <a:off x="5760720" y="1810512"/>
            <a:ext cx="274320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Real ibm_marrakesh: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66 circuits, 1,024 shots, 20 s of quantum time.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Kernel error: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17.5% on hardware vs 10.3% simulated, yet correlation with ideal is 0.996.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Why it works: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noise shrinks all values a little, so the ranking of molecules survives.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Full cost: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a fidelity kernel on 1,513 molecules needs 1.1 M circuits, 92.5 h of device time.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Projected kernel: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1,513 circuits, 7.6 min, only 0.011 ROC-AUC behind.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39" name="Impact Drug discovery"/>
          <p:cNvSpPr/>
          <p:nvPr/>
        </p:nvSpPr>
        <p:spPr>
          <a:xfrm>
            <a:off x="685800" y="182880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128016" tIns="128016" rIns="128016" bIns="128016" rtlCol="0" anchor="t"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3F57C8"/>
                </a:solidFill>
                <a:latin typeface="Georgia"/>
                <a:cs typeface="Georgia"/>
              </a:rPr>
              <a:t xml:space="preserve">Drug discovery</a:t>
            </a:r>
          </a:p>
          <a:p>
            <a:pPr marL="171450" indent="-171450" algn="l">
              <a:spcAft>
                <a:spcPts val="500"/>
              </a:spcAft>
              <a:buClr>
                <a:srgbClr val="3F57C8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Guides the next assay: model-ranked picking nearly doubles hits (+85 in 250 tests).</a:t>
            </a:r>
          </a:p>
          <a:p>
            <a:pPr marL="171450" indent="-171450" algn="l">
              <a:spcAft>
                <a:spcPts val="500"/>
              </a:spcAft>
              <a:buClr>
                <a:srgbClr val="3F57C8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Works for any target with SMILES and activity labels; 3 datasets already in QuDock-Bench.</a:t>
            </a:r>
          </a:p>
        </p:txBody>
      </p:sp>
      <p:sp>
        <p:nvSpPr>
          <p:cNvPr id="140" name="Impact Quantum ML research"/>
          <p:cNvSpPr/>
          <p:nvPr/>
        </p:nvSpPr>
        <p:spPr>
          <a:xfrm>
            <a:off x="3310128" y="182880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128016" tIns="128016" rIns="128016" bIns="128016" rtlCol="0" anchor="t"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39F"/>
                </a:solidFill>
                <a:latin typeface="Georgia"/>
                <a:cs typeface="Georgia"/>
              </a:rPr>
              <a:t xml:space="preserve">Quantum ML research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A fair benchmark template: same features, 6 scaffold splits, 10 seeds, significance tests.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Shows how to fight kernel concentration and what a hardware run really costs.</a:t>
            </a:r>
          </a:p>
        </p:txBody>
      </p:sp>
      <p:sp>
        <p:nvSpPr>
          <p:cNvPr id="141" name="Impact Open science"/>
          <p:cNvSpPr/>
          <p:nvPr/>
        </p:nvSpPr>
        <p:spPr>
          <a:xfrm>
            <a:off x="5934456" y="1828800"/>
            <a:ext cx="2514600" cy="2103120"/>
          </a:xfrm>
          <a:prstGeom prst="roundRect">
            <a:avLst>
              <a:gd name="adj" fmla="val 8000"/>
            </a:avLst>
          </a:prstGeom>
          <a:solidFill>
            <a:srgbClr val="EEF0FD"/>
          </a:solidFill>
          <a:ln>
            <a:noFill/>
          </a:ln>
        </p:spPr>
        <p:txBody>
          <a:bodyPr wrap="square" lIns="128016" tIns="128016" rIns="128016" bIns="128016" rtlCol="0" anchor="t"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5B3BA8"/>
                </a:solidFill>
                <a:latin typeface="Georgia"/>
                <a:cs typeface="Georgia"/>
              </a:rPr>
              <a:t xml:space="preserve">Open science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Code, results, docs, an HTTP API and a live web app are public.</a:t>
            </a:r>
          </a:p>
          <a:p>
            <a:pPr marL="171450" indent="-171450" algn="l">
              <a:spcAft>
                <a:spcPts val="5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100" dirty="0">
                <a:solidFill>
                  <a:srgbClr val="2E1B5B"/>
                </a:solidFill>
                <a:latin typeface="Calibri"/>
                <a:cs typeface="Calibri"/>
              </a:rPr>
              <a:t xml:space="preserve">182 tests; one command regenerates every number on a laptop.</a:t>
            </a:r>
          </a:p>
        </p:txBody>
      </p:sp>
      <p:sp>
        <p:nvSpPr>
          <p:cNvPr id="142" name="Impact note"/>
          <p:cNvSpPr txBox="1"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US" sz="1100" i="1" dirty="0">
                <a:solidFill>
                  <a:srgbClr val="5B3BA8"/>
                </a:solidFill>
                <a:latin typeface="Calibri"/>
                <a:cs typeface="Calibri"/>
              </a:rPr>
              <a:t xml:space="preserve">An honest result is useful: quantum kernels reach the classical ceiling today, and the projected design makes a real hardware run affordable.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43" name="Challenges"/>
          <p:cNvSpPr txBox="1"/>
          <p:nvPr/>
        </p:nvSpPr>
        <p:spPr>
          <a:xfrm>
            <a:off x="685800" y="1828800"/>
            <a:ext cx="402336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3BA8"/>
                </a:solidFill>
                <a:latin typeface="Calibri"/>
                <a:cs typeface="Calibri"/>
              </a:rPr>
              <a:t xml:space="preserve">CHALLENGES WE HIT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Kernel concentration: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spread fell 11× from 4 to 14 qubits; fixed with a bandwidth tuned by kernel-target alignment.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Split noise: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one split flattered models by up to 0.04; we moved to 6 splits and paired tests.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Circuit cost: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a full fidelity kernel needs 92.5 h on hardware; the projected kernel cuts it to 7.6 min.</a:t>
            </a:r>
          </a:p>
          <a:p>
            <a:pPr marL="171450" indent="-171450" algn="l">
              <a:spcAft>
                <a:spcPts val="4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Crashes on Linux: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Qiskit Aer and the Rust transpiler ran out of TLS and stack; fixed in CI and Docker.</a:t>
            </a:r>
          </a:p>
        </p:txBody>
      </p:sp>
      <p:sp>
        <p:nvSpPr>
          <p:cNvPr id="144" name="Future"/>
          <p:cNvSpPr txBox="1"/>
          <p:nvPr/>
        </p:nvSpPr>
        <p:spPr>
          <a:xfrm>
            <a:off x="4892040" y="1828800"/>
            <a:ext cx="356616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8639F"/>
                </a:solidFill>
                <a:latin typeface="Calibri"/>
                <a:cs typeface="Calibri"/>
              </a:rPr>
              <a:t xml:space="preserve">FUTURE SCOPE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Train and test the projected-kernel classifier end to end on IBM hardware (about 8 minutes).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Tune trainable feature maps across all 6 splits.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Error mitigation (readout, ZNE) on the hardware kernels.</a:t>
            </a: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Font typeface="Arial"/>
              <a:buChar char="•"/>
            </a:pPr>
            <a:r>
              <a:rPr lang="en-US" sz="1150" dirty="0">
                <a:solidFill>
                  <a:srgbClr val="2E1B5B"/>
                </a:solidFill>
                <a:latin typeface="Calibri"/>
                <a:cs typeface="Calibri"/>
              </a:rPr>
              <a:t xml:space="preserve">More drug targets in QuDock-Bench.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57200" y="3291840"/>
            <a:ext cx="2286000" cy="71323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9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github.com/vtu-qiskit-fall-fest-2026/vtu-hc-blackout</a:t>
            </a:r>
            <a:endParaRPr lang="en-US" sz="900" dirty="0"/>
          </a:p>
        </p:txBody>
      </p:sp>
      <p:sp>
        <p:nvSpPr>
          <p:cNvPr id="40" name="Field: LIVE WEB APP"/>
          <p:cNvSpPr/>
          <p:nvPr/>
        </p:nvSpPr>
        <p:spPr>
          <a:xfrm>
            <a:off x="457200" y="4096512"/>
            <a:ext cx="2286000" cy="566928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APP</a:t>
            </a:r>
            <a:endParaRPr lang="en-US" sz="9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App"/>
              </a:rPr>
              <a:t>qudock-blackout.streamlit.app</a:t>
            </a:r>
            <a:endParaRPr 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834640" y="3291840"/>
            <a:ext cx="2286000" cy="71323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LINK</a:t>
            </a:r>
            <a:endParaRPr lang="en-US" sz="90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Vid"/>
              </a:rPr>
              <a:t>drive.google.com/file/d/17vJ5pzTXjhN4cXxzwQyV3GzaghxDYzhk</a:t>
            </a:r>
            <a:endParaRPr lang="en-US" sz="900" dirty="0"/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Robustness &amp; Screening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pic>
        <p:nvPicPr>
          <p:cNvPr id="139" name="Hardware kernel heatmaps" descr="campaign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133600"/>
            <a:ext cx="4826000" cy="1841500"/>
          </a:xfrm>
          <a:prstGeom prst="rect">
            <a:avLst/>
          </a:prstGeom>
        </p:spPr>
      </p:pic>
      <p:sp>
        <p:nvSpPr>
          <p:cNvPr id="137" name="Heatmap caption"/>
          <p:cNvSpPr txBox="1"/>
          <p:nvPr/>
        </p:nvSpPr>
        <p:spPr>
          <a:xfrm>
            <a:off x="566928" y="4038600"/>
            <a:ext cx="42976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F7399"/>
                </a:solidFill>
                <a:latin typeface="Calibri"/>
                <a:cs typeface="Calibri"/>
              </a:rPr>
              <a:t xml:space="preserve">Screening campaign: 50 starting molecules, 25 assays per round for 8 rounds, 3 seeds</a:t>
            </a:r>
          </a:p>
        </p:txBody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38" name="Key details"/>
          <p:cNvSpPr txBox="1"/>
          <p:nvPr/>
        </p:nvSpPr>
        <p:spPr>
          <a:xfrm>
            <a:off x="5760720" y="1810512"/>
            <a:ext cx="2743200" cy="2697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6 scaffold splits: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split choice moves ROC-AUC by 0.019 to 0.044, seed by at most 0.008; classical stays ahead on all six.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Screening: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189 inhibitors found in 250 tests vs 104 at random, +85 hits; the hybrid kernel ranks first on all 3 seeds.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Calibrated confidence: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conformal sets; a 90% promise delivers 0.66 to 0.86 under scaffold shift, and we report it.</a:t>
            </a:r>
          </a:p>
          <a:p>
            <a:pPr marL="171450" indent="-171450" algn="l">
              <a:spcAft>
                <a:spcPts val="300"/>
              </a:spcAft>
              <a:buClr>
                <a:srgbClr val="5B3BA8"/>
              </a:buClr>
              <a:buFont typeface="Arial"/>
              <a:buChar char="•"/>
            </a:pPr>
            <a:r>
              <a:rPr lang="en-US" sz="1050" b="1" dirty="0">
                <a:solidFill>
                  <a:srgbClr val="2E1B5B"/>
                </a:solidFill>
                <a:latin typeface="Calibri"/>
                <a:cs typeface="Calibri"/>
              </a:rPr>
              <a:t xml:space="preserve">Explanations: </a:t>
            </a:r>
            <a:r>
              <a:rPr lang="en-US" sz="1050" dirty="0">
                <a:solidFill>
                  <a:srgbClr val="2E1B5B"/>
                </a:solidFill>
                <a:latin typeface="Calibri"/>
                <a:cs typeface="Calibri"/>
              </a:rPr>
              <a:t xml:space="preserve">deleting highlighted atoms costs 0.563 of score vs 0.381 for random atoms.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